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00584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2062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 Labs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869680" y="347472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PAY4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10972800" y="292608"/>
            <a:ext cx="502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11480" y="932688"/>
            <a:ext cx="11365992" cy="0"/>
          </a:xfrm>
          <a:prstGeom prst="line">
            <a:avLst/>
          </a:prstGeom>
          <a:noFill/>
          <a:ln w="10160">
            <a:solidFill>
              <a:srgbClr val="DCE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152144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PG AFFORDABILITY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200" b="1" dirty="0">
                <a:solidFill>
                  <a:srgbClr val="062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Affordability, built into checkout.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30352" y="2377440"/>
            <a:ext cx="4572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lets customers split online purchases using eligible credit cards, while merchants get paid upfront.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" y="3127248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191256"/>
            <a:ext cx="12710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cards only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2103120" y="3127248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76272" y="3191256"/>
            <a:ext cx="12710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paid upfront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3675888" y="3127248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3191256"/>
            <a:ext cx="12710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for enabled merchants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5715000" y="1170432"/>
            <a:ext cx="5440680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1417320"/>
            <a:ext cx="1737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gateway.plural.com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61888" y="177393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Paying To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61888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Stanley Living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823960" y="1773936"/>
            <a:ext cx="1097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Payable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823960" y="1965960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₹40,000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961888" y="2514600"/>
            <a:ext cx="4709160" cy="1325880"/>
          </a:xfrm>
          <a:prstGeom prst="roundRect">
            <a:avLst>
              <a:gd name="adj" fmla="val 8276"/>
            </a:avLst>
          </a:prstGeom>
          <a:solidFill>
            <a:srgbClr val="F9FCFA"/>
          </a:solidFill>
          <a:ln w="12700">
            <a:solidFill>
              <a:srgbClr val="DDE8E3"/>
            </a:solidFill>
            <a:prstDash val="solid"/>
          </a:ln>
        </p:spPr>
      </p:sp>
      <p:pic>
        <p:nvPicPr>
          <p:cNvPr id="23" name="Image 1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706624"/>
            <a:ext cx="841248" cy="34747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114032" y="2706624"/>
            <a:ext cx="411480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87184" y="2770632"/>
            <a:ext cx="265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80" dirty="0"/>
          </a:p>
        </p:txBody>
      </p:sp>
      <p:sp>
        <p:nvSpPr>
          <p:cNvPr id="26" name="Text 22"/>
          <p:cNvSpPr/>
          <p:nvPr/>
        </p:nvSpPr>
        <p:spPr>
          <a:xfrm>
            <a:off x="6199632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₹10,099 today, then ₹10,000/month for 3 months.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595360" y="2761488"/>
            <a:ext cx="914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Today</a:t>
            </a:r>
            <a:endParaRPr lang="en-US" sz="8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₹10,099</a:t>
            </a:r>
            <a:endParaRPr lang="en-US" sz="8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₹10,000 first payment + ₹99 fee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9646920" y="2761488"/>
            <a:ext cx="822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8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₹10,000/month × 3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961888" y="4005072"/>
            <a:ext cx="47091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26480" y="4123944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CREDIT CARD ISSUERS</a:t>
            </a:r>
            <a:endParaRPr lang="en-US" sz="740" dirty="0"/>
          </a:p>
        </p:txBody>
      </p:sp>
      <p:sp>
        <p:nvSpPr>
          <p:cNvPr id="31" name="Text 27"/>
          <p:cNvSpPr/>
          <p:nvPr/>
        </p:nvSpPr>
        <p:spPr>
          <a:xfrm>
            <a:off x="6126480" y="43891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74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HDFC Bank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903720" y="43891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A11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ICICI Bank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7680960" y="43891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8C0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Axis Bank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458200" y="43891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E11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Kotak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9235440" y="43891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B72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SBI Card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9756648" y="4535424"/>
            <a:ext cx="713232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29800" y="4599432"/>
            <a:ext cx="56692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Coming Soon</a:t>
            </a:r>
            <a:endParaRPr lang="en-US" sz="780" dirty="0"/>
          </a:p>
        </p:txBody>
      </p:sp>
      <p:sp>
        <p:nvSpPr>
          <p:cNvPr id="38" name="Text 34"/>
          <p:cNvSpPr/>
          <p:nvPr/>
        </p:nvSpPr>
        <p:spPr>
          <a:xfrm>
            <a:off x="530352" y="4169664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PAY4?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30352" y="4434840"/>
            <a:ext cx="4754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is a standalone online checkout payment mode embedded into Pine Labs Online PG. It applies at order level, uses eligible credit cards from participating issuers, and keeps the checkout decision simple.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30352" y="52578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30352" y="5257800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520" y="54406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731520" y="57607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₹10,099 today, then ₹10,000/month for 3 months using an eligible credit card.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41648" y="52578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041648" y="5257800"/>
            <a:ext cx="54864" cy="713232"/>
          </a:xfrm>
          <a:prstGeom prst="rect">
            <a:avLst/>
          </a:prstGeom>
          <a:solidFill>
            <a:srgbClr val="5A35D6"/>
          </a:solidFill>
          <a:ln w="12700">
            <a:solidFill>
              <a:srgbClr val="5A35D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242816" y="54406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4242816" y="57607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full order value upfront, net of Pay4 commercial charges.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7543800" y="52578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543800" y="5257800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744968" y="54406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Issuer Bank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7744968" y="57607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card eligibility, repayment schedule, processing fee and future collections.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8890">
            <a:solidFill>
              <a:srgbClr val="DCE8E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11480" y="6537960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by Pine Labs</a:t>
            </a:r>
            <a:endParaRPr lang="en-US" sz="780" dirty="0"/>
          </a:p>
        </p:txBody>
      </p:sp>
      <p:sp>
        <p:nvSpPr>
          <p:cNvPr id="54" name="Text 50"/>
          <p:cNvSpPr/>
          <p:nvPr/>
        </p:nvSpPr>
        <p:spPr>
          <a:xfrm>
            <a:off x="8412480" y="6537960"/>
            <a:ext cx="33375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Credit-card-funded affordability for online checkout.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00584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2062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 Labs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869680" y="347472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+ MERCHANT PITCH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10972800" y="292608"/>
            <a:ext cx="502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11480" y="932688"/>
            <a:ext cx="11365992" cy="0"/>
          </a:xfrm>
          <a:prstGeom prst="line">
            <a:avLst/>
          </a:prstGeom>
          <a:noFill/>
          <a:ln w="10160">
            <a:solidFill>
              <a:srgbClr val="DCE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78992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AFFORDABILITY STORY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02920" y="1353312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200" b="1" dirty="0">
                <a:solidFill>
                  <a:srgbClr val="062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“not now” to “paid now”.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30352" y="2304288"/>
            <a:ext cx="4572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often abandon because the full upfront amount feels too high. Pay4 reframes the decision without turning discounting into the only lever.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06440" y="1152144"/>
            <a:ext cx="52120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389888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080760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₹40,000 today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9244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86800" y="1389888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₹10,099 today + ₹10,000/month ×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" y="27432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" y="2743200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upfront payment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1520" y="32461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a ₹40,000 decision into ₹10,099 today, then ₹10,000/month for 3 months.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233672" y="27432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33672" y="2743200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3484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structure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434840" y="32461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tenure maze. One clear first payment followed by 3 monthly bank collections.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936992" y="274320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36992" y="2743200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3816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Credit-card funded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138160" y="3246120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use eligible credit cards from participating issuers.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30352" y="3639312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0352" y="3639312"/>
            <a:ext cx="54864" cy="713232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82219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checkout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31520" y="4142232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amount, bank processing fee and schedule are shown before authentication.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233672" y="3639312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33672" y="3639312"/>
            <a:ext cx="54864" cy="713232"/>
          </a:xfrm>
          <a:prstGeom prst="rect">
            <a:avLst/>
          </a:prstGeom>
          <a:solidFill>
            <a:srgbClr val="5A35D6"/>
          </a:solidFill>
          <a:ln w="12700">
            <a:solidFill>
              <a:srgbClr val="5A35D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34840" y="382219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conversion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434840" y="4142232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hesitation by lowering the upfront payment burden.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936992" y="3639312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36992" y="3639312"/>
            <a:ext cx="54864" cy="713232"/>
          </a:xfrm>
          <a:prstGeom prst="rect">
            <a:avLst/>
          </a:prstGeom>
          <a:solidFill>
            <a:srgbClr val="5A35D6"/>
          </a:solidFill>
          <a:ln w="12700">
            <a:solidFill>
              <a:srgbClr val="5A35D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38160" y="382219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commercial complexity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138160" y="4142232"/>
            <a:ext cx="3017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merchant-facing Pay4 charge with issuer economics handled by the program.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30352" y="4846320"/>
            <a:ext cx="10698480" cy="1234440"/>
          </a:xfrm>
          <a:prstGeom prst="roundRect">
            <a:avLst>
              <a:gd name="adj" fmla="val 10370"/>
            </a:avLst>
          </a:prstGeom>
          <a:solidFill>
            <a:srgbClr val="F9FCFA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047488"/>
            <a:ext cx="20116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VS TRADITIONAL EMI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04672" y="5358384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EMI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04672" y="5614416"/>
            <a:ext cx="4389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discovered late inside card/EMI flows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tenures and issuer-specific rules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merchant complexity across MDR, EMI fee and subvention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669280" y="5029200"/>
            <a:ext cx="0" cy="896112"/>
          </a:xfrm>
          <a:prstGeom prst="line">
            <a:avLst/>
          </a:prstGeom>
          <a:noFill/>
          <a:ln w="12700">
            <a:solidFill>
              <a:srgbClr val="DDE8E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89320" y="5358384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989320" y="5614416"/>
            <a:ext cx="4389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payment mode for enabled merchants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+ 3 monthly payments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Pine Labs underwriting journey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merchant-facing Pay4 commercial</a:t>
            </a:r>
            <a:endParaRPr lang="en-US" sz="860" dirty="0"/>
          </a:p>
        </p:txBody>
      </p:sp>
      <p:sp>
        <p:nvSpPr>
          <p:cNvPr id="47" name="Shape 44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8890">
            <a:solidFill>
              <a:srgbClr val="DCE8E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1480" y="6537960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by Pine Labs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8412480" y="6537960"/>
            <a:ext cx="33375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Credit-card-funded affordability for online checkout.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00584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2062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 Labs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869680" y="347472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 + INTEGRATION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10972800" y="292608"/>
            <a:ext cx="502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11480" y="932688"/>
            <a:ext cx="11365992" cy="0"/>
          </a:xfrm>
          <a:prstGeom prst="line">
            <a:avLst/>
          </a:prstGeom>
          <a:noFill/>
          <a:ln w="10160">
            <a:solidFill>
              <a:srgbClr val="DCE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24128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CHECKOUT JOURNEY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02920" y="1298448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200" b="1" dirty="0">
                <a:solidFill>
                  <a:srgbClr val="062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checkout journey built for affordability.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30352" y="2249424"/>
            <a:ext cx="4572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is visible inside Pine Labs Online PG as a standalone payment mode and remains card-funded behind the scenes.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" y="2450592"/>
            <a:ext cx="17556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2633472"/>
            <a:ext cx="274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33272" y="2615184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77440" y="2651760"/>
            <a:ext cx="2011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0" y="2450592"/>
            <a:ext cx="17556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07792" y="2633472"/>
            <a:ext cx="274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46120" y="2615184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Pay4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90288" y="2651760"/>
            <a:ext cx="2011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56048" y="2450592"/>
            <a:ext cx="17556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2633472"/>
            <a:ext cx="274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58968" y="2615184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card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03136" y="2651760"/>
            <a:ext cx="2011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68896" y="2450592"/>
            <a:ext cx="17556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33488" y="2633472"/>
            <a:ext cx="274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71816" y="2615184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15984" y="2651760"/>
            <a:ext cx="2011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381744" y="2450592"/>
            <a:ext cx="175564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46336" y="2633472"/>
            <a:ext cx="274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884664" y="2615184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paid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0352" y="3493008"/>
            <a:ext cx="434340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3703320"/>
            <a:ext cx="1737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CHECKOUT MODULE</a:t>
            </a:r>
            <a:endParaRPr lang="en-US" sz="800" dirty="0"/>
          </a:p>
        </p:txBody>
      </p:sp>
      <p:pic>
        <p:nvPicPr>
          <p:cNvPr id="31" name="Image 1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40"/>
            <a:ext cx="822960" cy="32918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783080" y="4023360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₹10,099 today, then ₹10,000/month for 3 months.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77240" y="4480560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Today</a:t>
            </a:r>
            <a:endParaRPr lang="en-US" sz="83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₹10,099</a:t>
            </a:r>
            <a:endParaRPr lang="en-US" sz="83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₹10,000 + ₹99 fee</a:t>
            </a:r>
            <a:endParaRPr lang="en-US" sz="830" dirty="0"/>
          </a:p>
        </p:txBody>
      </p:sp>
      <p:sp>
        <p:nvSpPr>
          <p:cNvPr id="34" name="Text 30"/>
          <p:cNvSpPr/>
          <p:nvPr/>
        </p:nvSpPr>
        <p:spPr>
          <a:xfrm>
            <a:off x="2359152" y="4480560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83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₹10,000/month × 3</a:t>
            </a:r>
            <a:endParaRPr lang="en-US" sz="83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3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 by bank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777240" y="4919472"/>
            <a:ext cx="3657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41832" y="5038344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CREDIT CARD ISSUERS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941832" y="53035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74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HDFC Bank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508760" y="53035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A11F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ICICI Bank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2075688" y="53035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8C0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Axis Bank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2642616" y="53035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E11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Kotak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3209544" y="5303520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B72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SBI Card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3520440" y="5449824"/>
            <a:ext cx="713232" cy="301752"/>
          </a:xfrm>
          <a:prstGeom prst="roundRect">
            <a:avLst>
              <a:gd name="adj" fmla="val 48485"/>
            </a:avLst>
          </a:prstGeom>
          <a:solidFill>
            <a:srgbClr val="EAF6F0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93592" y="5513832"/>
            <a:ext cx="56692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Coming Soon</a:t>
            </a:r>
            <a:endParaRPr lang="en-US" sz="780" dirty="0"/>
          </a:p>
        </p:txBody>
      </p:sp>
      <p:sp>
        <p:nvSpPr>
          <p:cNvPr id="44" name="Text 40"/>
          <p:cNvSpPr/>
          <p:nvPr/>
        </p:nvSpPr>
        <p:spPr>
          <a:xfrm>
            <a:off x="5166360" y="3547872"/>
            <a:ext cx="27432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MID-TICKET ONLINE COMMERCE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166360" y="3913632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257800" y="40325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</a:t>
            </a:r>
            <a:endParaRPr lang="en-US" sz="780" dirty="0"/>
          </a:p>
        </p:txBody>
      </p:sp>
      <p:sp>
        <p:nvSpPr>
          <p:cNvPr id="47" name="Shape 43"/>
          <p:cNvSpPr/>
          <p:nvPr/>
        </p:nvSpPr>
        <p:spPr>
          <a:xfrm>
            <a:off x="6537960" y="3913632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29400" y="40325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Mattresses</a:t>
            </a:r>
            <a:endParaRPr lang="en-US" sz="780" dirty="0"/>
          </a:p>
        </p:txBody>
      </p:sp>
      <p:sp>
        <p:nvSpPr>
          <p:cNvPr id="49" name="Shape 45"/>
          <p:cNvSpPr/>
          <p:nvPr/>
        </p:nvSpPr>
        <p:spPr>
          <a:xfrm>
            <a:off x="7909560" y="3913632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001000" y="40325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</a:t>
            </a:r>
            <a:endParaRPr lang="en-US" sz="780" dirty="0"/>
          </a:p>
        </p:txBody>
      </p:sp>
      <p:sp>
        <p:nvSpPr>
          <p:cNvPr id="51" name="Shape 47"/>
          <p:cNvSpPr/>
          <p:nvPr/>
        </p:nvSpPr>
        <p:spPr>
          <a:xfrm>
            <a:off x="9281160" y="3913632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372600" y="40325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</a:t>
            </a:r>
            <a:endParaRPr lang="en-US" sz="780" dirty="0"/>
          </a:p>
        </p:txBody>
      </p:sp>
      <p:sp>
        <p:nvSpPr>
          <p:cNvPr id="53" name="Shape 49"/>
          <p:cNvSpPr/>
          <p:nvPr/>
        </p:nvSpPr>
        <p:spPr>
          <a:xfrm>
            <a:off x="5166360" y="4480560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257800" y="459943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780" dirty="0"/>
          </a:p>
        </p:txBody>
      </p:sp>
      <p:sp>
        <p:nvSpPr>
          <p:cNvPr id="55" name="Shape 51"/>
          <p:cNvSpPr/>
          <p:nvPr/>
        </p:nvSpPr>
        <p:spPr>
          <a:xfrm>
            <a:off x="6537960" y="4480560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629400" y="459943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780" dirty="0"/>
          </a:p>
        </p:txBody>
      </p:sp>
      <p:sp>
        <p:nvSpPr>
          <p:cNvPr id="57" name="Shape 53"/>
          <p:cNvSpPr/>
          <p:nvPr/>
        </p:nvSpPr>
        <p:spPr>
          <a:xfrm>
            <a:off x="7909560" y="4480560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001000" y="459943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Eyewear</a:t>
            </a:r>
            <a:endParaRPr lang="en-US" sz="780" dirty="0"/>
          </a:p>
        </p:txBody>
      </p:sp>
      <p:sp>
        <p:nvSpPr>
          <p:cNvPr id="59" name="Shape 55"/>
          <p:cNvSpPr/>
          <p:nvPr/>
        </p:nvSpPr>
        <p:spPr>
          <a:xfrm>
            <a:off x="9281160" y="4480560"/>
            <a:ext cx="111556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372600" y="459943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retail</a:t>
            </a:r>
            <a:endParaRPr lang="en-US" sz="780" dirty="0"/>
          </a:p>
        </p:txBody>
      </p:sp>
      <p:sp>
        <p:nvSpPr>
          <p:cNvPr id="61" name="Text 57"/>
          <p:cNvSpPr/>
          <p:nvPr/>
        </p:nvSpPr>
        <p:spPr>
          <a:xfrm>
            <a:off x="5166360" y="5029200"/>
            <a:ext cx="1828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INTEGRATION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5166360" y="5340096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checkout activation  →  Pay4 widget  →  Checkout API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5166360" y="5669280"/>
            <a:ext cx="4206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activation. One payment mode. One settlement experience.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8890">
            <a:solidFill>
              <a:srgbClr val="DCE8E3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11480" y="6537960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by Pine Labs</a:t>
            </a:r>
            <a:endParaRPr lang="en-US" sz="780" dirty="0"/>
          </a:p>
        </p:txBody>
      </p:sp>
      <p:sp>
        <p:nvSpPr>
          <p:cNvPr id="66" name="Text 62"/>
          <p:cNvSpPr/>
          <p:nvPr/>
        </p:nvSpPr>
        <p:spPr>
          <a:xfrm>
            <a:off x="8412480" y="6537960"/>
            <a:ext cx="33375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Credit-card-funded affordability for online checkout.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eik.ahmad18/Documents/New project 3/public/assets/pay4-logo-by-pinel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00584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420624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 Labs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869680" y="347472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COMMERCIALS + OPERATING MODEL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10972800" y="292608"/>
            <a:ext cx="502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11480" y="932688"/>
            <a:ext cx="11365992" cy="0"/>
          </a:xfrm>
          <a:prstGeom prst="line">
            <a:avLst/>
          </a:prstGeom>
          <a:noFill/>
          <a:ln w="10160">
            <a:solidFill>
              <a:srgbClr val="DCE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PLATFORM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200" b="1" dirty="0">
                <a:solidFill>
                  <a:srgbClr val="062D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as a program platform, not just a checkout button.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30352" y="2231136"/>
            <a:ext cx="4572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merchant sees one Pay4 charge. Pine Labs manages issuer subvention, acquirer cost and bank program receivable.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" y="2359152"/>
            <a:ext cx="245059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2359152"/>
            <a:ext cx="54864" cy="685800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542032"/>
            <a:ext cx="21305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2862072"/>
            <a:ext cx="2130552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today, then 3 monthly payments; issuer fee may apply.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91840" y="2359152"/>
            <a:ext cx="245059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2359152"/>
            <a:ext cx="54864" cy="685800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93008" y="2542032"/>
            <a:ext cx="21305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493008" y="2862072"/>
            <a:ext cx="2130552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one Pay4 fee and receives upfront settlement.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53328" y="2359152"/>
            <a:ext cx="245059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53328" y="2359152"/>
            <a:ext cx="54864" cy="685800"/>
          </a:xfrm>
          <a:prstGeom prst="rect">
            <a:avLst/>
          </a:prstGeom>
          <a:solidFill>
            <a:srgbClr val="5A35D6"/>
          </a:solidFill>
          <a:ln w="12700">
            <a:solidFill>
              <a:srgbClr val="5A35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2542032"/>
            <a:ext cx="21305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Issuer Bank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54496" y="2862072"/>
            <a:ext cx="2130552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eligibility, repayment and future collections.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814816" y="2359152"/>
            <a:ext cx="245059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14816" y="2359152"/>
            <a:ext cx="54864" cy="685800"/>
          </a:xfrm>
          <a:prstGeom prst="rect">
            <a:avLst/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15984" y="2542032"/>
            <a:ext cx="21305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Pine Labs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015984" y="2862072"/>
            <a:ext cx="2130552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checkout, pricing, settlement and reconciliation.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30352" y="3401568"/>
            <a:ext cx="5074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3602736"/>
            <a:ext cx="20116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₹100 ILLUSTRATIVE WATERFALL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" y="39136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325880" y="39136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₹100 purchase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267712" y="39136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purchase value</a:t>
            </a:r>
            <a:endParaRPr lang="en-US" sz="740" dirty="0"/>
          </a:p>
        </p:txBody>
      </p:sp>
      <p:sp>
        <p:nvSpPr>
          <p:cNvPr id="31" name="Text 28"/>
          <p:cNvSpPr/>
          <p:nvPr/>
        </p:nvSpPr>
        <p:spPr>
          <a:xfrm>
            <a:off x="777240" y="41422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F2B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325880" y="41422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~₹3.25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267712" y="41422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Subvention / bridge</a:t>
            </a:r>
            <a:endParaRPr lang="en-US" sz="740" dirty="0"/>
          </a:p>
        </p:txBody>
      </p:sp>
      <p:sp>
        <p:nvSpPr>
          <p:cNvPr id="34" name="Text 31"/>
          <p:cNvSpPr/>
          <p:nvPr/>
        </p:nvSpPr>
        <p:spPr>
          <a:xfrm>
            <a:off x="777240" y="43708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325880" y="43708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₹96.75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267712" y="43708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amount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777240" y="45994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F2B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325880" y="45994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~₹1.60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267712" y="45994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Acquirer / card cost</a:t>
            </a:r>
            <a:endParaRPr lang="en-US" sz="740" dirty="0"/>
          </a:p>
        </p:txBody>
      </p:sp>
      <p:sp>
        <p:nvSpPr>
          <p:cNvPr id="40" name="Text 37"/>
          <p:cNvSpPr/>
          <p:nvPr/>
        </p:nvSpPr>
        <p:spPr>
          <a:xfrm>
            <a:off x="777240" y="48280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5A3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325880" y="48280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~₹1.70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267712" y="48280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program fee receivable</a:t>
            </a:r>
            <a:endParaRPr lang="en-US" sz="740" dirty="0"/>
          </a:p>
        </p:txBody>
      </p:sp>
      <p:sp>
        <p:nvSpPr>
          <p:cNvPr id="43" name="Text 40"/>
          <p:cNvSpPr/>
          <p:nvPr/>
        </p:nvSpPr>
        <p:spPr>
          <a:xfrm>
            <a:off x="777240" y="5056632"/>
            <a:ext cx="43891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325880" y="5056632"/>
            <a:ext cx="7772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~₹1.05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267712" y="5056632"/>
            <a:ext cx="237744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gross margin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5897880" y="3401568"/>
            <a:ext cx="5074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8E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44768" y="3602736"/>
            <a:ext cx="21031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AND MITIGATION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144768" y="3895344"/>
            <a:ext cx="502920" cy="301752"/>
          </a:xfrm>
          <a:prstGeom prst="roundRect">
            <a:avLst>
              <a:gd name="adj" fmla="val 48485"/>
            </a:avLst>
          </a:prstGeom>
          <a:solidFill>
            <a:srgbClr val="F3FBF6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17920" y="3959352"/>
            <a:ext cx="356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6784848" y="3950208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confusion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8229600" y="3950208"/>
            <a:ext cx="23317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schedule, fee disclosure, confirmation messaging.</a:t>
            </a:r>
            <a:endParaRPr lang="en-US" sz="730" dirty="0"/>
          </a:p>
        </p:txBody>
      </p:sp>
      <p:sp>
        <p:nvSpPr>
          <p:cNvPr id="52" name="Shape 49"/>
          <p:cNvSpPr/>
          <p:nvPr/>
        </p:nvSpPr>
        <p:spPr>
          <a:xfrm>
            <a:off x="6144768" y="4151376"/>
            <a:ext cx="502920" cy="301752"/>
          </a:xfrm>
          <a:prstGeom prst="roundRect">
            <a:avLst>
              <a:gd name="adj" fmla="val 48485"/>
            </a:avLst>
          </a:prstGeom>
          <a:solidFill>
            <a:srgbClr val="F3FBF6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217920" y="4215384"/>
            <a:ext cx="356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780" dirty="0"/>
          </a:p>
        </p:txBody>
      </p:sp>
      <p:sp>
        <p:nvSpPr>
          <p:cNvPr id="54" name="Text 51"/>
          <p:cNvSpPr/>
          <p:nvPr/>
        </p:nvSpPr>
        <p:spPr>
          <a:xfrm>
            <a:off x="6784848" y="4206240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inconsistency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8229600" y="4206240"/>
            <a:ext cx="23317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Bank-wise adapters with one proposition.</a:t>
            </a:r>
            <a:endParaRPr lang="en-US" sz="730" dirty="0"/>
          </a:p>
        </p:txBody>
      </p:sp>
      <p:sp>
        <p:nvSpPr>
          <p:cNvPr id="56" name="Shape 53"/>
          <p:cNvSpPr/>
          <p:nvPr/>
        </p:nvSpPr>
        <p:spPr>
          <a:xfrm>
            <a:off x="6144768" y="4407408"/>
            <a:ext cx="502920" cy="301752"/>
          </a:xfrm>
          <a:prstGeom prst="roundRect">
            <a:avLst>
              <a:gd name="adj" fmla="val 48485"/>
            </a:avLst>
          </a:prstGeom>
          <a:solidFill>
            <a:srgbClr val="F3FBF6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217920" y="4471416"/>
            <a:ext cx="356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80" dirty="0"/>
          </a:p>
        </p:txBody>
      </p:sp>
      <p:sp>
        <p:nvSpPr>
          <p:cNvPr id="58" name="Text 55"/>
          <p:cNvSpPr/>
          <p:nvPr/>
        </p:nvSpPr>
        <p:spPr>
          <a:xfrm>
            <a:off x="6784848" y="4462272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mismatch</a:t>
            </a:r>
            <a:endParaRPr lang="en-US" sz="780" dirty="0"/>
          </a:p>
        </p:txBody>
      </p:sp>
      <p:sp>
        <p:nvSpPr>
          <p:cNvPr id="59" name="Text 56"/>
          <p:cNvSpPr/>
          <p:nvPr/>
        </p:nvSpPr>
        <p:spPr>
          <a:xfrm>
            <a:off x="8229600" y="4462272"/>
            <a:ext cx="23317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Pay4 ledger and reconciliation.</a:t>
            </a:r>
            <a:endParaRPr lang="en-US" sz="730" dirty="0"/>
          </a:p>
        </p:txBody>
      </p:sp>
      <p:sp>
        <p:nvSpPr>
          <p:cNvPr id="60" name="Shape 57"/>
          <p:cNvSpPr/>
          <p:nvPr/>
        </p:nvSpPr>
        <p:spPr>
          <a:xfrm>
            <a:off x="6144768" y="4663440"/>
            <a:ext cx="502920" cy="301752"/>
          </a:xfrm>
          <a:prstGeom prst="roundRect">
            <a:avLst>
              <a:gd name="adj" fmla="val 48485"/>
            </a:avLst>
          </a:prstGeom>
          <a:solidFill>
            <a:srgbClr val="F3FBF6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217920" y="4727448"/>
            <a:ext cx="356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780" dirty="0"/>
          </a:p>
        </p:txBody>
      </p:sp>
      <p:sp>
        <p:nvSpPr>
          <p:cNvPr id="62" name="Text 59"/>
          <p:cNvSpPr/>
          <p:nvPr/>
        </p:nvSpPr>
        <p:spPr>
          <a:xfrm>
            <a:off x="6784848" y="4718304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complexity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8229600" y="4718304"/>
            <a:ext cx="23317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Certify refund behavior bank-wise.</a:t>
            </a:r>
            <a:endParaRPr lang="en-US" sz="730" dirty="0"/>
          </a:p>
        </p:txBody>
      </p:sp>
      <p:sp>
        <p:nvSpPr>
          <p:cNvPr id="64" name="Shape 61"/>
          <p:cNvSpPr/>
          <p:nvPr/>
        </p:nvSpPr>
        <p:spPr>
          <a:xfrm>
            <a:off x="6144768" y="4919472"/>
            <a:ext cx="502920" cy="301752"/>
          </a:xfrm>
          <a:prstGeom prst="roundRect">
            <a:avLst>
              <a:gd name="adj" fmla="val 48485"/>
            </a:avLst>
          </a:prstGeom>
          <a:solidFill>
            <a:srgbClr val="F3FBF6"/>
          </a:solidFill>
          <a:ln w="12700">
            <a:solidFill>
              <a:srgbClr val="CFE6D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217920" y="4983480"/>
            <a:ext cx="3566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780" dirty="0"/>
          </a:p>
        </p:txBody>
      </p:sp>
      <p:sp>
        <p:nvSpPr>
          <p:cNvPr id="66" name="Text 63"/>
          <p:cNvSpPr/>
          <p:nvPr/>
        </p:nvSpPr>
        <p:spPr>
          <a:xfrm>
            <a:off x="6784848" y="4974336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62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card friction</a:t>
            </a:r>
            <a:endParaRPr lang="en-US" sz="780" dirty="0"/>
          </a:p>
        </p:txBody>
      </p:sp>
      <p:sp>
        <p:nvSpPr>
          <p:cNvPr id="67" name="Text 64"/>
          <p:cNvSpPr/>
          <p:nvPr/>
        </p:nvSpPr>
        <p:spPr>
          <a:xfrm>
            <a:off x="8229600" y="4974336"/>
            <a:ext cx="23317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60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issuers before entry; validate BIN early.</a:t>
            </a:r>
            <a:endParaRPr lang="en-US" sz="730" dirty="0"/>
          </a:p>
        </p:txBody>
      </p:sp>
      <p:sp>
        <p:nvSpPr>
          <p:cNvPr id="68" name="Shape 65"/>
          <p:cNvSpPr/>
          <p:nvPr/>
        </p:nvSpPr>
        <p:spPr>
          <a:xfrm>
            <a:off x="530352" y="5623560"/>
            <a:ext cx="10698480" cy="502920"/>
          </a:xfrm>
          <a:prstGeom prst="roundRect">
            <a:avLst>
              <a:gd name="adj" fmla="val 32727"/>
            </a:avLst>
          </a:prstGeom>
          <a:solidFill>
            <a:srgbClr val="096B4F"/>
          </a:solidFill>
          <a:ln w="12700">
            <a:solidFill>
              <a:srgbClr val="096B4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22960" y="5779008"/>
            <a:ext cx="3840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affordability the default checkout behavior.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7315200" y="5779008"/>
            <a:ext cx="34747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 Pay4 for your checkout  ·  Talk to Pine Labs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8890">
            <a:solidFill>
              <a:srgbClr val="DCE8E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11480" y="6537960"/>
            <a:ext cx="1828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9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Pay4 by Pine Labs</a:t>
            </a:r>
            <a:endParaRPr lang="en-US" sz="780" dirty="0"/>
          </a:p>
        </p:txBody>
      </p:sp>
      <p:sp>
        <p:nvSpPr>
          <p:cNvPr id="73" name="Text 70"/>
          <p:cNvSpPr/>
          <p:nvPr/>
        </p:nvSpPr>
        <p:spPr>
          <a:xfrm>
            <a:off x="8412480" y="6537960"/>
            <a:ext cx="333756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6A7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Credit-card-funded affordability for online checkout.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Pine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Pay4 by Pine Labs Brochure</dc:title>
  <dc:subject>Pay4 by Pine Labs brochure</dc:subject>
  <dc:creator>Pine Labs</dc:creator>
  <cp:lastModifiedBy>Pine Labs</cp:lastModifiedBy>
  <cp:revision>1</cp:revision>
  <dcterms:created xsi:type="dcterms:W3CDTF">2026-05-21T07:50:56Z</dcterms:created>
  <dcterms:modified xsi:type="dcterms:W3CDTF">2026-05-21T07:50:56Z</dcterms:modified>
</cp:coreProperties>
</file>