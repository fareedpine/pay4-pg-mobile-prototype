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eik.ahmad18/Documents/New project 3/public/assets/pay4-logo-by-pinelab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92608"/>
            <a:ext cx="987552" cy="475488"/>
          </a:xfrm>
          <a:prstGeom prst="rect">
            <a:avLst/>
          </a:prstGeom>
        </p:spPr>
      </p:pic>
      <p:pic>
        <p:nvPicPr>
          <p:cNvPr id="3" name="Image 1" descr="/tmp/pay4-brochure-redo/p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448056"/>
            <a:ext cx="987552" cy="2468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84048" y="914400"/>
            <a:ext cx="11430000" cy="0"/>
          </a:xfrm>
          <a:prstGeom prst="line">
            <a:avLst/>
          </a:prstGeom>
          <a:noFill/>
          <a:ln w="12700">
            <a:solidFill>
              <a:srgbClr val="D9E8E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8366760" y="502920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6F7773"/>
                </a:solidFill>
              </a:rPr>
              <a:t>WHAT IS PAY4</a:t>
            </a:r>
            <a:endParaRPr lang="en-US" sz="720" dirty="0"/>
          </a:p>
        </p:txBody>
      </p:sp>
      <p:sp>
        <p:nvSpPr>
          <p:cNvPr id="6" name="Text 2"/>
          <p:cNvSpPr/>
          <p:nvPr/>
        </p:nvSpPr>
        <p:spPr>
          <a:xfrm>
            <a:off x="11384280" y="3840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87455"/>
                </a:solidFill>
              </a:rPr>
              <a:t>01</a:t>
            </a:r>
            <a:endParaRPr lang="en-US" sz="1900" dirty="0"/>
          </a:p>
        </p:txBody>
      </p:sp>
      <p:sp>
        <p:nvSpPr>
          <p:cNvPr id="7" name="Shape 3"/>
          <p:cNvSpPr/>
          <p:nvPr/>
        </p:nvSpPr>
        <p:spPr>
          <a:xfrm>
            <a:off x="384048" y="6446520"/>
            <a:ext cx="11430000" cy="0"/>
          </a:xfrm>
          <a:prstGeom prst="line">
            <a:avLst/>
          </a:prstGeom>
          <a:noFill/>
          <a:ln w="12700">
            <a:solidFill>
              <a:srgbClr val="D9E8E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84048" y="656539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7455"/>
                </a:solidFill>
              </a:rPr>
              <a:t>Pay4 by Pine Labs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868680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F7773"/>
                </a:solidFill>
              </a:rPr>
              <a:t>Credit-card-funded affordability for online checkout.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384048" y="1207008"/>
            <a:ext cx="2194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ONLINE PG AFFORDABILITY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84048" y="1536192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Affordability, built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into checkout.</a:t>
            </a:r>
            <a:endParaRPr lang="en-US" sz="2500" dirty="0"/>
          </a:p>
        </p:txBody>
      </p:sp>
      <p:sp>
        <p:nvSpPr>
          <p:cNvPr id="12" name="Text 8"/>
          <p:cNvSpPr/>
          <p:nvPr/>
        </p:nvSpPr>
        <p:spPr>
          <a:xfrm>
            <a:off x="384048" y="25786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Pay4 lets customers split online purchases using eligible credit cards, while merchants get paid upfront.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84048" y="3401568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84048" y="3470148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cards only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1965960" y="3401568"/>
            <a:ext cx="1481328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65960" y="3470148"/>
            <a:ext cx="1481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Merchant paid upfront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730752" y="3401568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730752" y="3470148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Always-on for merchants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6263640" y="1298448"/>
            <a:ext cx="516636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19672" y="1554480"/>
            <a:ext cx="46542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F7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gateway.plural.com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6519672" y="1956816"/>
            <a:ext cx="914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Paying To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6519672" y="21671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Stanley Living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9692640" y="1956816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Payable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9692640" y="21671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₹40,000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6519672" y="2651760"/>
            <a:ext cx="4654296" cy="1143000"/>
          </a:xfrm>
          <a:prstGeom prst="roundRect">
            <a:avLst>
              <a:gd name="adj" fmla="val 9600"/>
            </a:avLst>
          </a:prstGeom>
          <a:solidFill>
            <a:srgbClr val="FAFDFC"/>
          </a:solidFill>
          <a:ln w="12700">
            <a:solidFill>
              <a:srgbClr val="D9E8E1"/>
            </a:solidFill>
            <a:prstDash val="solid"/>
          </a:ln>
        </p:spPr>
      </p:sp>
      <p:pic>
        <p:nvPicPr>
          <p:cNvPr id="26" name="Image 2" descr="/Users/sheik.ahmad18/Documents/New project 3/public/assets/pay4-logo-by-pinelab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907792"/>
            <a:ext cx="768096" cy="347472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7589520" y="2962656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89520" y="3031236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6720840" y="3511296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 ₹10,099 today, then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₹10,000/month for 3 months.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9189720" y="292608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 Today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₹10,099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₹10,000 + ₹99 fee</a:t>
            </a:r>
            <a:endParaRPr lang="en-US" sz="750" dirty="0"/>
          </a:p>
        </p:txBody>
      </p:sp>
      <p:sp>
        <p:nvSpPr>
          <p:cNvPr id="31" name="Text 26"/>
          <p:cNvSpPr/>
          <p:nvPr/>
        </p:nvSpPr>
        <p:spPr>
          <a:xfrm>
            <a:off x="10287000" y="29260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₹10,000/month × 3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6519672" y="3950208"/>
            <a:ext cx="4654296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684264" y="4105656"/>
            <a:ext cx="43251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6F7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CREDIT CARD ISSUERS</a:t>
            </a:r>
            <a:endParaRPr lang="en-US" sz="730" dirty="0"/>
          </a:p>
        </p:txBody>
      </p:sp>
      <p:sp>
        <p:nvSpPr>
          <p:cNvPr id="34" name="Shape 29"/>
          <p:cNvSpPr/>
          <p:nvPr/>
        </p:nvSpPr>
        <p:spPr>
          <a:xfrm>
            <a:off x="6684264" y="4343400"/>
            <a:ext cx="780898" cy="228600"/>
          </a:xfrm>
          <a:prstGeom prst="roundRect">
            <a:avLst>
              <a:gd name="adj" fmla="val 48000"/>
            </a:avLst>
          </a:prstGeom>
          <a:solidFill>
            <a:srgbClr val="FBFDFC"/>
          </a:solidFill>
          <a:ln w="12700">
            <a:solidFill>
              <a:srgbClr val="E3EEE8"/>
            </a:solidFill>
            <a:prstDash val="solid"/>
          </a:ln>
        </p:spPr>
      </p:sp>
      <p:pic>
        <p:nvPicPr>
          <p:cNvPr id="35" name="Image 3" descr="/tmp/pay4-brochure-redo/hdf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4379976"/>
            <a:ext cx="671170" cy="155448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7538314" y="4343400"/>
            <a:ext cx="780898" cy="228600"/>
          </a:xfrm>
          <a:prstGeom prst="roundRect">
            <a:avLst>
              <a:gd name="adj" fmla="val 48000"/>
            </a:avLst>
          </a:prstGeom>
          <a:solidFill>
            <a:srgbClr val="FBFDFC"/>
          </a:solidFill>
          <a:ln w="12700">
            <a:solidFill>
              <a:srgbClr val="E3EEE8"/>
            </a:solidFill>
            <a:prstDash val="solid"/>
          </a:ln>
        </p:spPr>
      </p:sp>
      <p:pic>
        <p:nvPicPr>
          <p:cNvPr id="37" name="Image 4" descr="/tmp/pay4-brochure-redo/icic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3178" y="4379976"/>
            <a:ext cx="671170" cy="15544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392363" y="4343400"/>
            <a:ext cx="780898" cy="228600"/>
          </a:xfrm>
          <a:prstGeom prst="roundRect">
            <a:avLst>
              <a:gd name="adj" fmla="val 48000"/>
            </a:avLst>
          </a:prstGeom>
          <a:solidFill>
            <a:srgbClr val="FBFDFC"/>
          </a:solidFill>
          <a:ln w="12700">
            <a:solidFill>
              <a:srgbClr val="E3EEE8"/>
            </a:solidFill>
            <a:prstDash val="solid"/>
          </a:ln>
        </p:spPr>
      </p:sp>
      <p:pic>
        <p:nvPicPr>
          <p:cNvPr id="39" name="Image 5" descr="/tmp/pay4-brochure-redo/axi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7227" y="4379976"/>
            <a:ext cx="671170" cy="155448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9246413" y="4343400"/>
            <a:ext cx="780898" cy="228600"/>
          </a:xfrm>
          <a:prstGeom prst="roundRect">
            <a:avLst>
              <a:gd name="adj" fmla="val 48000"/>
            </a:avLst>
          </a:prstGeom>
          <a:solidFill>
            <a:srgbClr val="FBFDFC"/>
          </a:solidFill>
          <a:ln w="12700">
            <a:solidFill>
              <a:srgbClr val="E3EEE8"/>
            </a:solidFill>
            <a:prstDash val="solid"/>
          </a:ln>
        </p:spPr>
      </p:sp>
      <p:pic>
        <p:nvPicPr>
          <p:cNvPr id="41" name="Image 6" descr="/tmp/pay4-brochure-redo/kota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1277" y="4379976"/>
            <a:ext cx="671170" cy="155448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10100462" y="4343400"/>
            <a:ext cx="780898" cy="228600"/>
          </a:xfrm>
          <a:prstGeom prst="roundRect">
            <a:avLst>
              <a:gd name="adj" fmla="val 48000"/>
            </a:avLst>
          </a:prstGeom>
          <a:solidFill>
            <a:srgbClr val="FBFDFC"/>
          </a:solidFill>
          <a:ln w="12700">
            <a:solidFill>
              <a:srgbClr val="E3EEE8"/>
            </a:solidFill>
            <a:prstDash val="solid"/>
          </a:ln>
        </p:spPr>
      </p:sp>
      <p:pic>
        <p:nvPicPr>
          <p:cNvPr id="43" name="Image 7" descr="/tmp/pay4-brochure-redo/sbi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55326" y="4379976"/>
            <a:ext cx="671170" cy="15544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10393070" y="4544568"/>
            <a:ext cx="621792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10393070" y="4613148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Coming soon</a:t>
            </a:r>
            <a:endParaRPr lang="en-US" sz="800" dirty="0"/>
          </a:p>
        </p:txBody>
      </p:sp>
      <p:sp>
        <p:nvSpPr>
          <p:cNvPr id="46" name="Text 36"/>
          <p:cNvSpPr/>
          <p:nvPr/>
        </p:nvSpPr>
        <p:spPr>
          <a:xfrm>
            <a:off x="384048" y="4864608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PAY4?</a:t>
            </a:r>
            <a:endParaRPr lang="en-US" sz="830" dirty="0"/>
          </a:p>
        </p:txBody>
      </p:sp>
      <p:sp>
        <p:nvSpPr>
          <p:cNvPr id="47" name="Text 37"/>
          <p:cNvSpPr/>
          <p:nvPr/>
        </p:nvSpPr>
        <p:spPr>
          <a:xfrm>
            <a:off x="384048" y="521208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Pay4 is a standalone online checkout payment mode embedded into Pine Labs Online PG. It applies at order level and uses eligible credit cards from participating issuers.</a:t>
            </a:r>
            <a:endParaRPr lang="en-US" sz="1050" dirty="0"/>
          </a:p>
        </p:txBody>
      </p:sp>
      <p:sp>
        <p:nvSpPr>
          <p:cNvPr id="48" name="Shape 38"/>
          <p:cNvSpPr/>
          <p:nvPr/>
        </p:nvSpPr>
        <p:spPr>
          <a:xfrm>
            <a:off x="384048" y="5650992"/>
            <a:ext cx="324612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49" name="Shape 39"/>
          <p:cNvSpPr/>
          <p:nvPr/>
        </p:nvSpPr>
        <p:spPr>
          <a:xfrm>
            <a:off x="384048" y="5650992"/>
            <a:ext cx="45720" cy="594360"/>
          </a:xfrm>
          <a:prstGeom prst="rect">
            <a:avLst/>
          </a:prstGeom>
          <a:solidFill>
            <a:srgbClr val="087455"/>
          </a:solidFill>
          <a:ln w="12700">
            <a:solidFill>
              <a:srgbClr val="087455"/>
            </a:solidFill>
            <a:prstDash val="solid"/>
          </a:ln>
        </p:spPr>
      </p:sp>
      <p:sp>
        <p:nvSpPr>
          <p:cNvPr id="50" name="Text 40"/>
          <p:cNvSpPr/>
          <p:nvPr/>
        </p:nvSpPr>
        <p:spPr>
          <a:xfrm>
            <a:off x="548640" y="580644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548640" y="6089904"/>
            <a:ext cx="3017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Pays ₹10,099 today, then ₹10,000/month for 3 months.</a:t>
            </a:r>
            <a:endParaRPr lang="en-US" sz="860" dirty="0"/>
          </a:p>
        </p:txBody>
      </p:sp>
      <p:sp>
        <p:nvSpPr>
          <p:cNvPr id="52" name="Shape 42"/>
          <p:cNvSpPr/>
          <p:nvPr/>
        </p:nvSpPr>
        <p:spPr>
          <a:xfrm>
            <a:off x="3913632" y="5650992"/>
            <a:ext cx="324612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3913632" y="5650992"/>
            <a:ext cx="45720" cy="594360"/>
          </a:xfrm>
          <a:prstGeom prst="rect">
            <a:avLst/>
          </a:prstGeom>
          <a:solidFill>
            <a:srgbClr val="5A35D6"/>
          </a:solidFill>
          <a:ln w="12700">
            <a:solidFill>
              <a:srgbClr val="5A35D6"/>
            </a:solidFill>
            <a:prstDash val="solid"/>
          </a:ln>
        </p:spPr>
      </p:sp>
      <p:sp>
        <p:nvSpPr>
          <p:cNvPr id="54" name="Text 44"/>
          <p:cNvSpPr/>
          <p:nvPr/>
        </p:nvSpPr>
        <p:spPr>
          <a:xfrm>
            <a:off x="4078224" y="580644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Merchant</a:t>
            </a:r>
            <a:endParaRPr lang="en-US" sz="1200" dirty="0"/>
          </a:p>
        </p:txBody>
      </p:sp>
      <p:sp>
        <p:nvSpPr>
          <p:cNvPr id="55" name="Text 45"/>
          <p:cNvSpPr/>
          <p:nvPr/>
        </p:nvSpPr>
        <p:spPr>
          <a:xfrm>
            <a:off x="4078224" y="6089904"/>
            <a:ext cx="3017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Receives full order value upfront, net of Pay4 commercial charges.</a:t>
            </a:r>
            <a:endParaRPr lang="en-US" sz="860" dirty="0"/>
          </a:p>
        </p:txBody>
      </p:sp>
      <p:sp>
        <p:nvSpPr>
          <p:cNvPr id="56" name="Shape 46"/>
          <p:cNvSpPr/>
          <p:nvPr/>
        </p:nvSpPr>
        <p:spPr>
          <a:xfrm>
            <a:off x="7443216" y="5650992"/>
            <a:ext cx="324612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57" name="Shape 47"/>
          <p:cNvSpPr/>
          <p:nvPr/>
        </p:nvSpPr>
        <p:spPr>
          <a:xfrm>
            <a:off x="7443216" y="5650992"/>
            <a:ext cx="45720" cy="594360"/>
          </a:xfrm>
          <a:prstGeom prst="rect">
            <a:avLst/>
          </a:prstGeom>
          <a:solidFill>
            <a:srgbClr val="087455"/>
          </a:solidFill>
          <a:ln w="12700">
            <a:solidFill>
              <a:srgbClr val="087455"/>
            </a:solidFill>
            <a:prstDash val="solid"/>
          </a:ln>
        </p:spPr>
      </p:sp>
      <p:sp>
        <p:nvSpPr>
          <p:cNvPr id="58" name="Text 48"/>
          <p:cNvSpPr/>
          <p:nvPr/>
        </p:nvSpPr>
        <p:spPr>
          <a:xfrm>
            <a:off x="7607808" y="580644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Issuer Bank</a:t>
            </a:r>
            <a:endParaRPr lang="en-US" sz="1200" dirty="0"/>
          </a:p>
        </p:txBody>
      </p:sp>
      <p:sp>
        <p:nvSpPr>
          <p:cNvPr id="59" name="Text 49"/>
          <p:cNvSpPr/>
          <p:nvPr/>
        </p:nvSpPr>
        <p:spPr>
          <a:xfrm>
            <a:off x="7607808" y="6089904"/>
            <a:ext cx="3017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eligibility, repayment schedule and future collections.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eik.ahmad18/Documents/New project 3/public/assets/pay4-logo-by-pinelab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92608"/>
            <a:ext cx="987552" cy="475488"/>
          </a:xfrm>
          <a:prstGeom prst="rect">
            <a:avLst/>
          </a:prstGeom>
        </p:spPr>
      </p:pic>
      <p:pic>
        <p:nvPicPr>
          <p:cNvPr id="3" name="Image 1" descr="/tmp/pay4-brochure-redo/p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448056"/>
            <a:ext cx="987552" cy="2468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84048" y="914400"/>
            <a:ext cx="11430000" cy="0"/>
          </a:xfrm>
          <a:prstGeom prst="line">
            <a:avLst/>
          </a:prstGeom>
          <a:noFill/>
          <a:ln w="12700">
            <a:solidFill>
              <a:srgbClr val="D9E8E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8366760" y="502920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6F7773"/>
                </a:solidFill>
              </a:rPr>
              <a:t>CUSTOMER + MERCHANT PITCH</a:t>
            </a:r>
            <a:endParaRPr lang="en-US" sz="720" dirty="0"/>
          </a:p>
        </p:txBody>
      </p:sp>
      <p:sp>
        <p:nvSpPr>
          <p:cNvPr id="6" name="Text 2"/>
          <p:cNvSpPr/>
          <p:nvPr/>
        </p:nvSpPr>
        <p:spPr>
          <a:xfrm>
            <a:off x="11384280" y="3840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87455"/>
                </a:solidFill>
              </a:rPr>
              <a:t>02</a:t>
            </a:r>
            <a:endParaRPr lang="en-US" sz="1900" dirty="0"/>
          </a:p>
        </p:txBody>
      </p:sp>
      <p:sp>
        <p:nvSpPr>
          <p:cNvPr id="7" name="Shape 3"/>
          <p:cNvSpPr/>
          <p:nvPr/>
        </p:nvSpPr>
        <p:spPr>
          <a:xfrm>
            <a:off x="384048" y="6446520"/>
            <a:ext cx="11430000" cy="0"/>
          </a:xfrm>
          <a:prstGeom prst="line">
            <a:avLst/>
          </a:prstGeom>
          <a:noFill/>
          <a:ln w="12700">
            <a:solidFill>
              <a:srgbClr val="D9E8E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84048" y="656539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7455"/>
                </a:solidFill>
              </a:rPr>
              <a:t>Pay4 by Pine Labs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868680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F7773"/>
                </a:solidFill>
              </a:rPr>
              <a:t>Credit-card-funded affordability for online checkout.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384048" y="1207008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+ MERCHANT PITCH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84048" y="157276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“not now”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“paid now”.</a:t>
            </a:r>
            <a:endParaRPr lang="en-US" sz="2300" dirty="0"/>
          </a:p>
        </p:txBody>
      </p:sp>
      <p:sp>
        <p:nvSpPr>
          <p:cNvPr id="12" name="Text 8"/>
          <p:cNvSpPr/>
          <p:nvPr/>
        </p:nvSpPr>
        <p:spPr>
          <a:xfrm>
            <a:off x="384048" y="2606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4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Pay4 reframes checkout affordability without making discounting the only conversion lever.</a:t>
            </a:r>
            <a:endParaRPr lang="en-US" sz="1140" dirty="0"/>
          </a:p>
        </p:txBody>
      </p:sp>
      <p:sp>
        <p:nvSpPr>
          <p:cNvPr id="13" name="Shape 9"/>
          <p:cNvSpPr/>
          <p:nvPr/>
        </p:nvSpPr>
        <p:spPr>
          <a:xfrm>
            <a:off x="6400800" y="1572768"/>
            <a:ext cx="42976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656832" y="1773936"/>
            <a:ext cx="640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F7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656832" y="2066544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 ₹40,000 today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8439912" y="205740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9098280" y="1773936"/>
            <a:ext cx="640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F7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9098280" y="19933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 ₹10,099 today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₹10,000/month × 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84048" y="3182112"/>
            <a:ext cx="35204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84048" y="3182112"/>
            <a:ext cx="45720" cy="713232"/>
          </a:xfrm>
          <a:prstGeom prst="rect">
            <a:avLst/>
          </a:prstGeom>
          <a:solidFill>
            <a:srgbClr val="087455"/>
          </a:solidFill>
          <a:ln w="12700">
            <a:solidFill>
              <a:srgbClr val="08745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48640" y="33375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Smaller upfront payment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548640" y="36210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₹40,000 becomes ₹10,099 today, then ₹10,000/month for 3 months.</a:t>
            </a:r>
            <a:endParaRPr lang="en-US" sz="860" dirty="0"/>
          </a:p>
        </p:txBody>
      </p:sp>
      <p:sp>
        <p:nvSpPr>
          <p:cNvPr id="23" name="Shape 19"/>
          <p:cNvSpPr/>
          <p:nvPr/>
        </p:nvSpPr>
        <p:spPr>
          <a:xfrm>
            <a:off x="4434840" y="3182112"/>
            <a:ext cx="35204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34840" y="3182112"/>
            <a:ext cx="45720" cy="713232"/>
          </a:xfrm>
          <a:prstGeom prst="rect">
            <a:avLst/>
          </a:prstGeom>
          <a:solidFill>
            <a:srgbClr val="087455"/>
          </a:solidFill>
          <a:ln w="12700">
            <a:solidFill>
              <a:srgbClr val="087455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99432" y="33375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structure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599432" y="36210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tenure maze. Clear first payment plus 3 monthly bank collections.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8485632" y="3182112"/>
            <a:ext cx="35204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485632" y="3182112"/>
            <a:ext cx="45720" cy="713232"/>
          </a:xfrm>
          <a:prstGeom prst="rect">
            <a:avLst/>
          </a:prstGeom>
          <a:solidFill>
            <a:srgbClr val="087455"/>
          </a:solidFill>
          <a:ln w="12700">
            <a:solidFill>
              <a:srgbClr val="087455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650224" y="333756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Credit-card funded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50224" y="36210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use eligible credit cards from participating issuers.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384048" y="4041648"/>
            <a:ext cx="35204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84048" y="4041648"/>
            <a:ext cx="45720" cy="713232"/>
          </a:xfrm>
          <a:prstGeom prst="rect">
            <a:avLst/>
          </a:prstGeom>
          <a:solidFill>
            <a:srgbClr val="087455"/>
          </a:solidFill>
          <a:ln w="12700">
            <a:solidFill>
              <a:srgbClr val="087455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48640" y="4197096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Transparent checkout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548640" y="44805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Today’s amount, fee and future monthly schedule are shown first.</a:t>
            </a:r>
            <a:endParaRPr lang="en-US" sz="860" dirty="0"/>
          </a:p>
        </p:txBody>
      </p:sp>
      <p:sp>
        <p:nvSpPr>
          <p:cNvPr id="35" name="Shape 31"/>
          <p:cNvSpPr/>
          <p:nvPr/>
        </p:nvSpPr>
        <p:spPr>
          <a:xfrm>
            <a:off x="4434840" y="4041648"/>
            <a:ext cx="35204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434840" y="4041648"/>
            <a:ext cx="45720" cy="713232"/>
          </a:xfrm>
          <a:prstGeom prst="rect">
            <a:avLst/>
          </a:prstGeom>
          <a:solidFill>
            <a:srgbClr val="5A35D6"/>
          </a:solidFill>
          <a:ln w="12700">
            <a:solidFill>
              <a:srgbClr val="5A35D6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4599432" y="4197096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conversion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599432" y="44805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checkout hesitation by lowering the upfront payment burden.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8485632" y="4041648"/>
            <a:ext cx="35204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485632" y="4041648"/>
            <a:ext cx="45720" cy="713232"/>
          </a:xfrm>
          <a:prstGeom prst="rect">
            <a:avLst/>
          </a:prstGeom>
          <a:solidFill>
            <a:srgbClr val="5A35D6"/>
          </a:solidFill>
          <a:ln w="12700">
            <a:solidFill>
              <a:srgbClr val="5A35D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8650224" y="4197096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commercial complexity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50224" y="44805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Pay4 charge, with issuer economics handled through the program.</a:t>
            </a:r>
            <a:endParaRPr lang="en-US" sz="860" dirty="0"/>
          </a:p>
        </p:txBody>
      </p:sp>
      <p:sp>
        <p:nvSpPr>
          <p:cNvPr id="43" name="Shape 39"/>
          <p:cNvSpPr/>
          <p:nvPr/>
        </p:nvSpPr>
        <p:spPr>
          <a:xfrm>
            <a:off x="384048" y="5074920"/>
            <a:ext cx="11430000" cy="1078992"/>
          </a:xfrm>
          <a:prstGeom prst="roundRect">
            <a:avLst>
              <a:gd name="adj" fmla="val 10169"/>
            </a:avLst>
          </a:prstGeom>
          <a:solidFill>
            <a:srgbClr val="FAFDFC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603504" y="526694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PAY4 VS TRADITIONAL EMI</a:t>
            </a:r>
            <a:endParaRPr lang="en-US" sz="800" dirty="0"/>
          </a:p>
        </p:txBody>
      </p:sp>
      <p:sp>
        <p:nvSpPr>
          <p:cNvPr id="45" name="Text 41"/>
          <p:cNvSpPr/>
          <p:nvPr/>
        </p:nvSpPr>
        <p:spPr>
          <a:xfrm>
            <a:off x="603504" y="559612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EMI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603504" y="5897880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 discovery · Multiple tenures · Fragmented merchant economics</a:t>
            </a:r>
            <a:endParaRPr lang="en-US" sz="930" dirty="0"/>
          </a:p>
        </p:txBody>
      </p:sp>
      <p:sp>
        <p:nvSpPr>
          <p:cNvPr id="47" name="Text 43"/>
          <p:cNvSpPr/>
          <p:nvPr/>
        </p:nvSpPr>
        <p:spPr>
          <a:xfrm>
            <a:off x="6446520" y="55961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Pay4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6446520" y="5897880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Always-on mode · Today + 3 monthly payments · No Pine Labs underwriting</a:t>
            </a:r>
            <a:endParaRPr lang="en-US" sz="9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eik.ahmad18/Documents/New project 3/public/assets/pay4-logo-by-pinelab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92608"/>
            <a:ext cx="987552" cy="475488"/>
          </a:xfrm>
          <a:prstGeom prst="rect">
            <a:avLst/>
          </a:prstGeom>
        </p:spPr>
      </p:pic>
      <p:pic>
        <p:nvPicPr>
          <p:cNvPr id="3" name="Image 1" descr="/tmp/pay4-brochure-redo/p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448056"/>
            <a:ext cx="987552" cy="2468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84048" y="914400"/>
            <a:ext cx="11430000" cy="0"/>
          </a:xfrm>
          <a:prstGeom prst="line">
            <a:avLst/>
          </a:prstGeom>
          <a:noFill/>
          <a:ln w="12700">
            <a:solidFill>
              <a:srgbClr val="D9E8E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8366760" y="502920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6F7773"/>
                </a:solidFill>
              </a:rPr>
              <a:t>JOURNEY + INTEGRATION</a:t>
            </a:r>
            <a:endParaRPr lang="en-US" sz="720" dirty="0"/>
          </a:p>
        </p:txBody>
      </p:sp>
      <p:sp>
        <p:nvSpPr>
          <p:cNvPr id="6" name="Text 2"/>
          <p:cNvSpPr/>
          <p:nvPr/>
        </p:nvSpPr>
        <p:spPr>
          <a:xfrm>
            <a:off x="11384280" y="3840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87455"/>
                </a:solidFill>
              </a:rPr>
              <a:t>03</a:t>
            </a:r>
            <a:endParaRPr lang="en-US" sz="1900" dirty="0"/>
          </a:p>
        </p:txBody>
      </p:sp>
      <p:sp>
        <p:nvSpPr>
          <p:cNvPr id="7" name="Shape 3"/>
          <p:cNvSpPr/>
          <p:nvPr/>
        </p:nvSpPr>
        <p:spPr>
          <a:xfrm>
            <a:off x="384048" y="6446520"/>
            <a:ext cx="11430000" cy="0"/>
          </a:xfrm>
          <a:prstGeom prst="line">
            <a:avLst/>
          </a:prstGeom>
          <a:noFill/>
          <a:ln w="12700">
            <a:solidFill>
              <a:srgbClr val="D9E8E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84048" y="656539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7455"/>
                </a:solidFill>
              </a:rPr>
              <a:t>Pay4 by Pine Labs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868680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F7773"/>
                </a:solidFill>
              </a:rPr>
              <a:t>Credit-card-funded affordability for online checkout.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384048" y="1207008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JOURNEY + INTEGRATION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84048" y="1554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checkout journey built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affordability.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384048" y="248716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Pay4 is visible inside Pine Labs Online PG as a standalone payment mode and remains card-funded behind the scenes.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84048" y="3246120"/>
            <a:ext cx="173736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30352" y="345643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86968" y="34655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Checkout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258568" y="347472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F7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16352" y="3246120"/>
            <a:ext cx="173736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962656" y="345643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3319272" y="34655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Pay4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690872" y="347472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F7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248656" y="3246120"/>
            <a:ext cx="173736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394960" y="345643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751576" y="34655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card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7123176" y="347472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F7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7680960" y="3246120"/>
            <a:ext cx="173736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827264" y="345643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183880" y="34655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Authenticate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9555480" y="347472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F7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0113264" y="3246120"/>
            <a:ext cx="173736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10259568" y="345643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616184" y="34655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Paid order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384048" y="4069080"/>
            <a:ext cx="4983480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94360" y="429768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PAY4 CHECKOUT MODULE</a:t>
            </a:r>
            <a:endParaRPr lang="en-US" sz="760" dirty="0"/>
          </a:p>
        </p:txBody>
      </p:sp>
      <p:pic>
        <p:nvPicPr>
          <p:cNvPr id="34" name="Image 2" descr="/Users/sheik.ahmad18/Documents/New project 3/public/assets/pay4-logo-by-pinelab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498848"/>
            <a:ext cx="768096" cy="347472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1572768" y="4535424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572768" y="4604004"/>
            <a:ext cx="96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cards only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594360" y="50109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 ₹10,099 today, then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₹10,000/month for 3 months.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3246120" y="455371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 Today</a:t>
            </a:r>
            <a:endParaRPr lang="en-US" sz="720" dirty="0"/>
          </a:p>
          <a:p>
            <a:pPr algn="l" indent="0" marL="0">
              <a:buNone/>
            </a:pPr>
            <a:r>
              <a:rPr lang="en-US" sz="7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₹10,099</a:t>
            </a:r>
            <a:endParaRPr lang="en-US" sz="720" dirty="0"/>
          </a:p>
          <a:p>
            <a:pPr algn="l" indent="0" marL="0">
              <a:buNone/>
            </a:pPr>
            <a:r>
              <a:rPr lang="en-US" sz="7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₹10,000 + ₹99 fee</a:t>
            </a:r>
            <a:endParaRPr lang="en-US" sz="720" dirty="0"/>
          </a:p>
        </p:txBody>
      </p:sp>
      <p:sp>
        <p:nvSpPr>
          <p:cNvPr id="39" name="Text 34"/>
          <p:cNvSpPr/>
          <p:nvPr/>
        </p:nvSpPr>
        <p:spPr>
          <a:xfrm>
            <a:off x="4224528" y="455371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</a:t>
            </a:r>
            <a:endParaRPr lang="en-US" sz="720" dirty="0"/>
          </a:p>
          <a:p>
            <a:pPr algn="l" indent="0" marL="0">
              <a:buNone/>
            </a:pPr>
            <a:r>
              <a:rPr lang="en-US" sz="7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₹10,000/month × 3</a:t>
            </a:r>
            <a:endParaRPr lang="en-US" sz="720" dirty="0"/>
          </a:p>
        </p:txBody>
      </p:sp>
      <p:sp>
        <p:nvSpPr>
          <p:cNvPr id="40" name="Shape 35"/>
          <p:cNvSpPr/>
          <p:nvPr/>
        </p:nvSpPr>
        <p:spPr>
          <a:xfrm>
            <a:off x="594360" y="5431536"/>
            <a:ext cx="4498848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58952" y="5586984"/>
            <a:ext cx="4169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6F7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CREDIT CARD ISSUERS</a:t>
            </a:r>
            <a:endParaRPr lang="en-US" sz="730" dirty="0"/>
          </a:p>
        </p:txBody>
      </p:sp>
      <p:sp>
        <p:nvSpPr>
          <p:cNvPr id="42" name="Shape 37"/>
          <p:cNvSpPr/>
          <p:nvPr/>
        </p:nvSpPr>
        <p:spPr>
          <a:xfrm>
            <a:off x="758952" y="5824728"/>
            <a:ext cx="749808" cy="228600"/>
          </a:xfrm>
          <a:prstGeom prst="roundRect">
            <a:avLst>
              <a:gd name="adj" fmla="val 48000"/>
            </a:avLst>
          </a:prstGeom>
          <a:solidFill>
            <a:srgbClr val="FBFDFC"/>
          </a:solidFill>
          <a:ln w="12700">
            <a:solidFill>
              <a:srgbClr val="E3EEE8"/>
            </a:solidFill>
            <a:prstDash val="solid"/>
          </a:ln>
        </p:spPr>
      </p:sp>
      <p:pic>
        <p:nvPicPr>
          <p:cNvPr id="43" name="Image 3" descr="/tmp/pay4-brochure-redo/hdf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5861304"/>
            <a:ext cx="640080" cy="155448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1581912" y="5824728"/>
            <a:ext cx="749808" cy="228600"/>
          </a:xfrm>
          <a:prstGeom prst="roundRect">
            <a:avLst>
              <a:gd name="adj" fmla="val 48000"/>
            </a:avLst>
          </a:prstGeom>
          <a:solidFill>
            <a:srgbClr val="FBFDFC"/>
          </a:solidFill>
          <a:ln w="12700">
            <a:solidFill>
              <a:srgbClr val="E3EEE8"/>
            </a:solidFill>
            <a:prstDash val="solid"/>
          </a:ln>
        </p:spPr>
      </p:sp>
      <p:pic>
        <p:nvPicPr>
          <p:cNvPr id="45" name="Image 4" descr="/tmp/pay4-brochure-redo/icic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776" y="5861304"/>
            <a:ext cx="640080" cy="15544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404872" y="5824728"/>
            <a:ext cx="749808" cy="228600"/>
          </a:xfrm>
          <a:prstGeom prst="roundRect">
            <a:avLst>
              <a:gd name="adj" fmla="val 48000"/>
            </a:avLst>
          </a:prstGeom>
          <a:solidFill>
            <a:srgbClr val="FBFDFC"/>
          </a:solidFill>
          <a:ln w="12700">
            <a:solidFill>
              <a:srgbClr val="E3EEE8"/>
            </a:solidFill>
            <a:prstDash val="solid"/>
          </a:ln>
        </p:spPr>
      </p:sp>
      <p:pic>
        <p:nvPicPr>
          <p:cNvPr id="47" name="Image 5" descr="/tmp/pay4-brochure-redo/axi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9736" y="5861304"/>
            <a:ext cx="640080" cy="155448"/>
          </a:xfrm>
          <a:prstGeom prst="rect">
            <a:avLst/>
          </a:prstGeom>
        </p:spPr>
      </p:pic>
      <p:sp>
        <p:nvSpPr>
          <p:cNvPr id="48" name="Shape 40"/>
          <p:cNvSpPr/>
          <p:nvPr/>
        </p:nvSpPr>
        <p:spPr>
          <a:xfrm>
            <a:off x="3227832" y="5824728"/>
            <a:ext cx="749808" cy="228600"/>
          </a:xfrm>
          <a:prstGeom prst="roundRect">
            <a:avLst>
              <a:gd name="adj" fmla="val 48000"/>
            </a:avLst>
          </a:prstGeom>
          <a:solidFill>
            <a:srgbClr val="FBFDFC"/>
          </a:solidFill>
          <a:ln w="12700">
            <a:solidFill>
              <a:srgbClr val="E3EEE8"/>
            </a:solidFill>
            <a:prstDash val="solid"/>
          </a:ln>
        </p:spPr>
      </p:sp>
      <p:pic>
        <p:nvPicPr>
          <p:cNvPr id="49" name="Image 6" descr="/tmp/pay4-brochure-redo/kota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2696" y="5861304"/>
            <a:ext cx="640080" cy="155448"/>
          </a:xfrm>
          <a:prstGeom prst="rect">
            <a:avLst/>
          </a:prstGeom>
        </p:spPr>
      </p:pic>
      <p:sp>
        <p:nvSpPr>
          <p:cNvPr id="50" name="Shape 41"/>
          <p:cNvSpPr/>
          <p:nvPr/>
        </p:nvSpPr>
        <p:spPr>
          <a:xfrm>
            <a:off x="4050792" y="5824728"/>
            <a:ext cx="749808" cy="228600"/>
          </a:xfrm>
          <a:prstGeom prst="roundRect">
            <a:avLst>
              <a:gd name="adj" fmla="val 48000"/>
            </a:avLst>
          </a:prstGeom>
          <a:solidFill>
            <a:srgbClr val="FBFDFC"/>
          </a:solidFill>
          <a:ln w="12700">
            <a:solidFill>
              <a:srgbClr val="E3EEE8"/>
            </a:solidFill>
            <a:prstDash val="solid"/>
          </a:ln>
        </p:spPr>
      </p:sp>
      <p:pic>
        <p:nvPicPr>
          <p:cNvPr id="51" name="Image 7" descr="/tmp/pay4-brochure-redo/sbi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5656" y="5861304"/>
            <a:ext cx="640080" cy="155448"/>
          </a:xfrm>
          <a:prstGeom prst="rect">
            <a:avLst/>
          </a:prstGeom>
        </p:spPr>
      </p:pic>
      <p:sp>
        <p:nvSpPr>
          <p:cNvPr id="52" name="Shape 42"/>
          <p:cNvSpPr/>
          <p:nvPr/>
        </p:nvSpPr>
        <p:spPr>
          <a:xfrm>
            <a:off x="4343400" y="6025896"/>
            <a:ext cx="621792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4343400" y="6094476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Coming soon</a:t>
            </a:r>
            <a:endParaRPr lang="en-US" sz="800" dirty="0"/>
          </a:p>
        </p:txBody>
      </p:sp>
      <p:sp>
        <p:nvSpPr>
          <p:cNvPr id="54" name="Text 44"/>
          <p:cNvSpPr/>
          <p:nvPr/>
        </p:nvSpPr>
        <p:spPr>
          <a:xfrm>
            <a:off x="6053328" y="4224528"/>
            <a:ext cx="2926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FOR MID-TICKET ONLINE COMMERCE</a:t>
            </a:r>
            <a:endParaRPr lang="en-US" sz="800" dirty="0"/>
          </a:p>
        </p:txBody>
      </p:sp>
      <p:sp>
        <p:nvSpPr>
          <p:cNvPr id="55" name="Text 45"/>
          <p:cNvSpPr/>
          <p:nvPr/>
        </p:nvSpPr>
        <p:spPr>
          <a:xfrm>
            <a:off x="6053328" y="4553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suited for categories where customers have purchase intent, but upfront payment creates hesitation.</a:t>
            </a:r>
            <a:endParaRPr lang="en-US" sz="1030" dirty="0"/>
          </a:p>
        </p:txBody>
      </p:sp>
      <p:sp>
        <p:nvSpPr>
          <p:cNvPr id="56" name="Shape 46"/>
          <p:cNvSpPr/>
          <p:nvPr/>
        </p:nvSpPr>
        <p:spPr>
          <a:xfrm>
            <a:off x="6053328" y="5065776"/>
            <a:ext cx="1078992" cy="283464"/>
          </a:xfrm>
          <a:prstGeom prst="roundRect">
            <a:avLst>
              <a:gd name="adj" fmla="val 3871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57" name="Text 47"/>
          <p:cNvSpPr/>
          <p:nvPr/>
        </p:nvSpPr>
        <p:spPr>
          <a:xfrm>
            <a:off x="6053328" y="515721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Furniture</a:t>
            </a:r>
            <a:endParaRPr lang="en-US" sz="760" dirty="0"/>
          </a:p>
        </p:txBody>
      </p:sp>
      <p:sp>
        <p:nvSpPr>
          <p:cNvPr id="58" name="Shape 48"/>
          <p:cNvSpPr/>
          <p:nvPr/>
        </p:nvSpPr>
        <p:spPr>
          <a:xfrm>
            <a:off x="7406640" y="5065776"/>
            <a:ext cx="1078992" cy="283464"/>
          </a:xfrm>
          <a:prstGeom prst="roundRect">
            <a:avLst>
              <a:gd name="adj" fmla="val 3871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59" name="Text 49"/>
          <p:cNvSpPr/>
          <p:nvPr/>
        </p:nvSpPr>
        <p:spPr>
          <a:xfrm>
            <a:off x="7406640" y="515721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Mattresses</a:t>
            </a:r>
            <a:endParaRPr lang="en-US" sz="760" dirty="0"/>
          </a:p>
        </p:txBody>
      </p:sp>
      <p:sp>
        <p:nvSpPr>
          <p:cNvPr id="60" name="Shape 50"/>
          <p:cNvSpPr/>
          <p:nvPr/>
        </p:nvSpPr>
        <p:spPr>
          <a:xfrm>
            <a:off x="8759952" y="5065776"/>
            <a:ext cx="1078992" cy="283464"/>
          </a:xfrm>
          <a:prstGeom prst="roundRect">
            <a:avLst>
              <a:gd name="adj" fmla="val 3871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61" name="Text 51"/>
          <p:cNvSpPr/>
          <p:nvPr/>
        </p:nvSpPr>
        <p:spPr>
          <a:xfrm>
            <a:off x="8759952" y="515721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Fashion</a:t>
            </a:r>
            <a:endParaRPr lang="en-US" sz="760" dirty="0"/>
          </a:p>
        </p:txBody>
      </p:sp>
      <p:sp>
        <p:nvSpPr>
          <p:cNvPr id="62" name="Shape 52"/>
          <p:cNvSpPr/>
          <p:nvPr/>
        </p:nvSpPr>
        <p:spPr>
          <a:xfrm>
            <a:off x="10113264" y="5065776"/>
            <a:ext cx="1078992" cy="283464"/>
          </a:xfrm>
          <a:prstGeom prst="roundRect">
            <a:avLst>
              <a:gd name="adj" fmla="val 3871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63" name="Text 53"/>
          <p:cNvSpPr/>
          <p:nvPr/>
        </p:nvSpPr>
        <p:spPr>
          <a:xfrm>
            <a:off x="10113264" y="515721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Travel</a:t>
            </a:r>
            <a:endParaRPr lang="en-US" sz="760" dirty="0"/>
          </a:p>
        </p:txBody>
      </p:sp>
      <p:sp>
        <p:nvSpPr>
          <p:cNvPr id="64" name="Shape 54"/>
          <p:cNvSpPr/>
          <p:nvPr/>
        </p:nvSpPr>
        <p:spPr>
          <a:xfrm>
            <a:off x="6053328" y="5504688"/>
            <a:ext cx="1078992" cy="283464"/>
          </a:xfrm>
          <a:prstGeom prst="roundRect">
            <a:avLst>
              <a:gd name="adj" fmla="val 3871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65" name="Text 55"/>
          <p:cNvSpPr/>
          <p:nvPr/>
        </p:nvSpPr>
        <p:spPr>
          <a:xfrm>
            <a:off x="6053328" y="5596128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</a:t>
            </a:r>
            <a:endParaRPr lang="en-US" sz="760" dirty="0"/>
          </a:p>
        </p:txBody>
      </p:sp>
      <p:sp>
        <p:nvSpPr>
          <p:cNvPr id="66" name="Shape 56"/>
          <p:cNvSpPr/>
          <p:nvPr/>
        </p:nvSpPr>
        <p:spPr>
          <a:xfrm>
            <a:off x="7406640" y="5504688"/>
            <a:ext cx="1078992" cy="283464"/>
          </a:xfrm>
          <a:prstGeom prst="roundRect">
            <a:avLst>
              <a:gd name="adj" fmla="val 3871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67" name="Text 57"/>
          <p:cNvSpPr/>
          <p:nvPr/>
        </p:nvSpPr>
        <p:spPr>
          <a:xfrm>
            <a:off x="7406640" y="5596128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</a:t>
            </a:r>
            <a:endParaRPr lang="en-US" sz="760" dirty="0"/>
          </a:p>
        </p:txBody>
      </p:sp>
      <p:sp>
        <p:nvSpPr>
          <p:cNvPr id="68" name="Shape 58"/>
          <p:cNvSpPr/>
          <p:nvPr/>
        </p:nvSpPr>
        <p:spPr>
          <a:xfrm>
            <a:off x="8759952" y="5504688"/>
            <a:ext cx="1078992" cy="283464"/>
          </a:xfrm>
          <a:prstGeom prst="roundRect">
            <a:avLst>
              <a:gd name="adj" fmla="val 3871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69" name="Text 59"/>
          <p:cNvSpPr/>
          <p:nvPr/>
        </p:nvSpPr>
        <p:spPr>
          <a:xfrm>
            <a:off x="8759952" y="5596128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Eyewear</a:t>
            </a:r>
            <a:endParaRPr lang="en-US" sz="760" dirty="0"/>
          </a:p>
        </p:txBody>
      </p:sp>
      <p:sp>
        <p:nvSpPr>
          <p:cNvPr id="70" name="Shape 60"/>
          <p:cNvSpPr/>
          <p:nvPr/>
        </p:nvSpPr>
        <p:spPr>
          <a:xfrm>
            <a:off x="10113264" y="5504688"/>
            <a:ext cx="1078992" cy="283464"/>
          </a:xfrm>
          <a:prstGeom prst="roundRect">
            <a:avLst>
              <a:gd name="adj" fmla="val 38710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71" name="Text 61"/>
          <p:cNvSpPr/>
          <p:nvPr/>
        </p:nvSpPr>
        <p:spPr>
          <a:xfrm>
            <a:off x="10113264" y="5596128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retail</a:t>
            </a:r>
            <a:endParaRPr lang="en-US" sz="760" dirty="0"/>
          </a:p>
        </p:txBody>
      </p:sp>
      <p:sp>
        <p:nvSpPr>
          <p:cNvPr id="72" name="Shape 62"/>
          <p:cNvSpPr/>
          <p:nvPr/>
        </p:nvSpPr>
        <p:spPr>
          <a:xfrm>
            <a:off x="384048" y="6199632"/>
            <a:ext cx="11430000" cy="256032"/>
          </a:xfrm>
          <a:prstGeom prst="roundRect">
            <a:avLst>
              <a:gd name="adj" fmla="val 42857"/>
            </a:avLst>
          </a:prstGeom>
          <a:solidFill>
            <a:srgbClr val="FAFDFC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73" name="Text 63"/>
          <p:cNvSpPr/>
          <p:nvPr/>
        </p:nvSpPr>
        <p:spPr>
          <a:xfrm>
            <a:off x="603504" y="6291072"/>
            <a:ext cx="10881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Merchant site/app → Pay4 availability &amp; pricing → Checkout selection → Card authentication → Success callback → Settlement &amp; reporting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eik.ahmad18/Documents/New project 3/public/assets/pay4-logo-by-pinelab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92608"/>
            <a:ext cx="987552" cy="475488"/>
          </a:xfrm>
          <a:prstGeom prst="rect">
            <a:avLst/>
          </a:prstGeom>
        </p:spPr>
      </p:pic>
      <p:pic>
        <p:nvPicPr>
          <p:cNvPr id="3" name="Image 1" descr="/tmp/pay4-brochure-redo/p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448056"/>
            <a:ext cx="987552" cy="24688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84048" y="914400"/>
            <a:ext cx="11430000" cy="0"/>
          </a:xfrm>
          <a:prstGeom prst="line">
            <a:avLst/>
          </a:prstGeom>
          <a:noFill/>
          <a:ln w="12700">
            <a:solidFill>
              <a:srgbClr val="D9E8E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8366760" y="502920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6F7773"/>
                </a:solidFill>
              </a:rPr>
              <a:t>COMMERCIALS + OPERATING MODEL</a:t>
            </a:r>
            <a:endParaRPr lang="en-US" sz="720" dirty="0"/>
          </a:p>
        </p:txBody>
      </p:sp>
      <p:sp>
        <p:nvSpPr>
          <p:cNvPr id="6" name="Text 2"/>
          <p:cNvSpPr/>
          <p:nvPr/>
        </p:nvSpPr>
        <p:spPr>
          <a:xfrm>
            <a:off x="11384280" y="3840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87455"/>
                </a:solidFill>
              </a:rPr>
              <a:t>04</a:t>
            </a:r>
            <a:endParaRPr lang="en-US" sz="1900" dirty="0"/>
          </a:p>
        </p:txBody>
      </p:sp>
      <p:sp>
        <p:nvSpPr>
          <p:cNvPr id="7" name="Shape 3"/>
          <p:cNvSpPr/>
          <p:nvPr/>
        </p:nvSpPr>
        <p:spPr>
          <a:xfrm>
            <a:off x="384048" y="6446520"/>
            <a:ext cx="11430000" cy="0"/>
          </a:xfrm>
          <a:prstGeom prst="line">
            <a:avLst/>
          </a:prstGeom>
          <a:noFill/>
          <a:ln w="12700">
            <a:solidFill>
              <a:srgbClr val="D9E8E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84048" y="656539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7455"/>
                </a:solidFill>
              </a:rPr>
              <a:t>Pay4 by Pine Labs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868680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F7773"/>
                </a:solidFill>
              </a:rPr>
              <a:t>Credit-card-funded affordability for online checkout.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384048" y="1207008"/>
            <a:ext cx="2926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COMMERCIALS + OPERATING MODEL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84048" y="1572768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as a program platform,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a checkout button.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384048" y="246888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merchant sees one Pay4 charge. Pine Labs manages issuer subvention, acquirer cost and bank program receivable.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384048" y="3154680"/>
            <a:ext cx="24688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84048" y="3154680"/>
            <a:ext cx="45720" cy="566928"/>
          </a:xfrm>
          <a:prstGeom prst="rect">
            <a:avLst/>
          </a:prstGeom>
          <a:solidFill>
            <a:srgbClr val="087455"/>
          </a:solidFill>
          <a:ln w="12700">
            <a:solidFill>
              <a:srgbClr val="08745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8640" y="3310128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48640" y="3593592"/>
            <a:ext cx="2240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Pays today, then 3 monthly payments; issuer fee may apply.</a:t>
            </a:r>
            <a:endParaRPr lang="en-US" sz="860" dirty="0"/>
          </a:p>
        </p:txBody>
      </p:sp>
      <p:sp>
        <p:nvSpPr>
          <p:cNvPr id="17" name="Shape 13"/>
          <p:cNvSpPr/>
          <p:nvPr/>
        </p:nvSpPr>
        <p:spPr>
          <a:xfrm>
            <a:off x="3127248" y="3154680"/>
            <a:ext cx="24688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127248" y="3154680"/>
            <a:ext cx="45720" cy="566928"/>
          </a:xfrm>
          <a:prstGeom prst="rect">
            <a:avLst/>
          </a:prstGeom>
          <a:solidFill>
            <a:srgbClr val="087455"/>
          </a:solidFill>
          <a:ln w="12700">
            <a:solidFill>
              <a:srgbClr val="08745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291840" y="3310128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Merchant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3291840" y="3593592"/>
            <a:ext cx="2240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Pays one Pay4 fee and receives upfront settlement.</a:t>
            </a:r>
            <a:endParaRPr lang="en-US" sz="860" dirty="0"/>
          </a:p>
        </p:txBody>
      </p:sp>
      <p:sp>
        <p:nvSpPr>
          <p:cNvPr id="21" name="Shape 17"/>
          <p:cNvSpPr/>
          <p:nvPr/>
        </p:nvSpPr>
        <p:spPr>
          <a:xfrm>
            <a:off x="5870448" y="3154680"/>
            <a:ext cx="24688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870448" y="3154680"/>
            <a:ext cx="45720" cy="566928"/>
          </a:xfrm>
          <a:prstGeom prst="rect">
            <a:avLst/>
          </a:prstGeom>
          <a:solidFill>
            <a:srgbClr val="5A35D6"/>
          </a:solidFill>
          <a:ln w="12700">
            <a:solidFill>
              <a:srgbClr val="5A35D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035040" y="3310128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Issuer Bank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035040" y="3593592"/>
            <a:ext cx="2240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eligibility, repayment and future collections.</a:t>
            </a:r>
            <a:endParaRPr lang="en-US" sz="860" dirty="0"/>
          </a:p>
        </p:txBody>
      </p:sp>
      <p:sp>
        <p:nvSpPr>
          <p:cNvPr id="25" name="Shape 21"/>
          <p:cNvSpPr/>
          <p:nvPr/>
        </p:nvSpPr>
        <p:spPr>
          <a:xfrm>
            <a:off x="8613648" y="3154680"/>
            <a:ext cx="24688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613648" y="3154680"/>
            <a:ext cx="45720" cy="566928"/>
          </a:xfrm>
          <a:prstGeom prst="rect">
            <a:avLst/>
          </a:prstGeom>
          <a:solidFill>
            <a:srgbClr val="087455"/>
          </a:solidFill>
          <a:ln w="12700">
            <a:solidFill>
              <a:srgbClr val="087455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778240" y="3310128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Pine Labs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8778240" y="3593592"/>
            <a:ext cx="2240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Orchestrates checkout, pricing, settlement and reconciliation.</a:t>
            </a:r>
            <a:endParaRPr lang="en-US" sz="860" dirty="0"/>
          </a:p>
        </p:txBody>
      </p:sp>
      <p:sp>
        <p:nvSpPr>
          <p:cNvPr id="29" name="Shape 25"/>
          <p:cNvSpPr/>
          <p:nvPr/>
        </p:nvSpPr>
        <p:spPr>
          <a:xfrm>
            <a:off x="384048" y="4160520"/>
            <a:ext cx="5394960" cy="1700784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03504" y="4389120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₹100 ILLUSTRATIVE WATERFALL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603504" y="4709160"/>
            <a:ext cx="4114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</a:t>
            </a:r>
            <a:endParaRPr lang="en-US" sz="720" dirty="0"/>
          </a:p>
        </p:txBody>
      </p:sp>
      <p:sp>
        <p:nvSpPr>
          <p:cNvPr id="32" name="Text 28"/>
          <p:cNvSpPr/>
          <p:nvPr/>
        </p:nvSpPr>
        <p:spPr>
          <a:xfrm>
            <a:off x="1600200" y="4709160"/>
            <a:ext cx="1097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₹100 purchase</a:t>
            </a:r>
            <a:endParaRPr lang="en-US" sz="920" dirty="0"/>
          </a:p>
        </p:txBody>
      </p:sp>
      <p:sp>
        <p:nvSpPr>
          <p:cNvPr id="33" name="Text 29"/>
          <p:cNvSpPr/>
          <p:nvPr/>
        </p:nvSpPr>
        <p:spPr>
          <a:xfrm>
            <a:off x="3063240" y="4709160"/>
            <a:ext cx="20116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purchase value</a:t>
            </a:r>
            <a:endParaRPr lang="en-US" sz="770" dirty="0"/>
          </a:p>
        </p:txBody>
      </p:sp>
      <p:sp>
        <p:nvSpPr>
          <p:cNvPr id="34" name="Text 30"/>
          <p:cNvSpPr/>
          <p:nvPr/>
        </p:nvSpPr>
        <p:spPr>
          <a:xfrm>
            <a:off x="603504" y="4910328"/>
            <a:ext cx="4114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D990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</a:t>
            </a:r>
            <a:endParaRPr lang="en-US" sz="720" dirty="0"/>
          </a:p>
        </p:txBody>
      </p:sp>
      <p:sp>
        <p:nvSpPr>
          <p:cNvPr id="35" name="Text 31"/>
          <p:cNvSpPr/>
          <p:nvPr/>
        </p:nvSpPr>
        <p:spPr>
          <a:xfrm>
            <a:off x="1600200" y="4910328"/>
            <a:ext cx="1097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~₹3.25</a:t>
            </a:r>
            <a:endParaRPr lang="en-US" sz="920" dirty="0"/>
          </a:p>
        </p:txBody>
      </p:sp>
      <p:sp>
        <p:nvSpPr>
          <p:cNvPr id="36" name="Text 32"/>
          <p:cNvSpPr/>
          <p:nvPr/>
        </p:nvSpPr>
        <p:spPr>
          <a:xfrm>
            <a:off x="3063240" y="4910328"/>
            <a:ext cx="20116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Subvention / bridge</a:t>
            </a:r>
            <a:endParaRPr lang="en-US" sz="770" dirty="0"/>
          </a:p>
        </p:txBody>
      </p:sp>
      <p:sp>
        <p:nvSpPr>
          <p:cNvPr id="37" name="Text 33"/>
          <p:cNvSpPr/>
          <p:nvPr/>
        </p:nvSpPr>
        <p:spPr>
          <a:xfrm>
            <a:off x="603504" y="5111496"/>
            <a:ext cx="4114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Equals</a:t>
            </a:r>
            <a:endParaRPr lang="en-US" sz="720" dirty="0"/>
          </a:p>
        </p:txBody>
      </p:sp>
      <p:sp>
        <p:nvSpPr>
          <p:cNvPr id="38" name="Text 34"/>
          <p:cNvSpPr/>
          <p:nvPr/>
        </p:nvSpPr>
        <p:spPr>
          <a:xfrm>
            <a:off x="1600200" y="5111496"/>
            <a:ext cx="1097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₹96.75</a:t>
            </a:r>
            <a:endParaRPr lang="en-US" sz="920" dirty="0"/>
          </a:p>
        </p:txBody>
      </p:sp>
      <p:sp>
        <p:nvSpPr>
          <p:cNvPr id="39" name="Text 35"/>
          <p:cNvSpPr/>
          <p:nvPr/>
        </p:nvSpPr>
        <p:spPr>
          <a:xfrm>
            <a:off x="3063240" y="5111496"/>
            <a:ext cx="20116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 amount</a:t>
            </a:r>
            <a:endParaRPr lang="en-US" sz="770" dirty="0"/>
          </a:p>
        </p:txBody>
      </p:sp>
      <p:sp>
        <p:nvSpPr>
          <p:cNvPr id="40" name="Text 36"/>
          <p:cNvSpPr/>
          <p:nvPr/>
        </p:nvSpPr>
        <p:spPr>
          <a:xfrm>
            <a:off x="603504" y="5312664"/>
            <a:ext cx="4114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D990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</a:t>
            </a:r>
            <a:endParaRPr lang="en-US" sz="720" dirty="0"/>
          </a:p>
        </p:txBody>
      </p:sp>
      <p:sp>
        <p:nvSpPr>
          <p:cNvPr id="41" name="Text 37"/>
          <p:cNvSpPr/>
          <p:nvPr/>
        </p:nvSpPr>
        <p:spPr>
          <a:xfrm>
            <a:off x="1600200" y="5312664"/>
            <a:ext cx="1097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~₹1.60</a:t>
            </a:r>
            <a:endParaRPr lang="en-US" sz="920" dirty="0"/>
          </a:p>
        </p:txBody>
      </p:sp>
      <p:sp>
        <p:nvSpPr>
          <p:cNvPr id="42" name="Text 38"/>
          <p:cNvSpPr/>
          <p:nvPr/>
        </p:nvSpPr>
        <p:spPr>
          <a:xfrm>
            <a:off x="3063240" y="5312664"/>
            <a:ext cx="20116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Acquirer / card cost</a:t>
            </a:r>
            <a:endParaRPr lang="en-US" sz="770" dirty="0"/>
          </a:p>
        </p:txBody>
      </p:sp>
      <p:sp>
        <p:nvSpPr>
          <p:cNvPr id="43" name="Text 39"/>
          <p:cNvSpPr/>
          <p:nvPr/>
        </p:nvSpPr>
        <p:spPr>
          <a:xfrm>
            <a:off x="603504" y="5513832"/>
            <a:ext cx="4114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A3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</a:t>
            </a:r>
            <a:endParaRPr lang="en-US" sz="720" dirty="0"/>
          </a:p>
        </p:txBody>
      </p:sp>
      <p:sp>
        <p:nvSpPr>
          <p:cNvPr id="44" name="Text 40"/>
          <p:cNvSpPr/>
          <p:nvPr/>
        </p:nvSpPr>
        <p:spPr>
          <a:xfrm>
            <a:off x="1600200" y="5513832"/>
            <a:ext cx="1097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~₹1.70</a:t>
            </a:r>
            <a:endParaRPr lang="en-US" sz="920" dirty="0"/>
          </a:p>
        </p:txBody>
      </p:sp>
      <p:sp>
        <p:nvSpPr>
          <p:cNvPr id="45" name="Text 41"/>
          <p:cNvSpPr/>
          <p:nvPr/>
        </p:nvSpPr>
        <p:spPr>
          <a:xfrm>
            <a:off x="3063240" y="5513832"/>
            <a:ext cx="20116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Bank program fee receivable</a:t>
            </a:r>
            <a:endParaRPr lang="en-US" sz="770" dirty="0"/>
          </a:p>
        </p:txBody>
      </p:sp>
      <p:sp>
        <p:nvSpPr>
          <p:cNvPr id="46" name="Text 42"/>
          <p:cNvSpPr/>
          <p:nvPr/>
        </p:nvSpPr>
        <p:spPr>
          <a:xfrm>
            <a:off x="603504" y="5715000"/>
            <a:ext cx="4114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</a:t>
            </a:r>
            <a:endParaRPr lang="en-US" sz="720" dirty="0"/>
          </a:p>
        </p:txBody>
      </p:sp>
      <p:sp>
        <p:nvSpPr>
          <p:cNvPr id="47" name="Text 43"/>
          <p:cNvSpPr/>
          <p:nvPr/>
        </p:nvSpPr>
        <p:spPr>
          <a:xfrm>
            <a:off x="1600200" y="5715000"/>
            <a:ext cx="1097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~₹1.05</a:t>
            </a:r>
            <a:endParaRPr lang="en-US" sz="920" dirty="0"/>
          </a:p>
        </p:txBody>
      </p:sp>
      <p:sp>
        <p:nvSpPr>
          <p:cNvPr id="48" name="Text 44"/>
          <p:cNvSpPr/>
          <p:nvPr/>
        </p:nvSpPr>
        <p:spPr>
          <a:xfrm>
            <a:off x="3063240" y="5715000"/>
            <a:ext cx="20116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gross margin</a:t>
            </a:r>
            <a:endParaRPr lang="en-US" sz="770" dirty="0"/>
          </a:p>
        </p:txBody>
      </p:sp>
      <p:sp>
        <p:nvSpPr>
          <p:cNvPr id="49" name="Shape 45"/>
          <p:cNvSpPr/>
          <p:nvPr/>
        </p:nvSpPr>
        <p:spPr>
          <a:xfrm>
            <a:off x="6419088" y="4160520"/>
            <a:ext cx="5394960" cy="1700784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8E1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6638544" y="4389120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RISKS AND MITIGATION</a:t>
            </a:r>
            <a:endParaRPr lang="en-US" sz="800" dirty="0"/>
          </a:p>
        </p:txBody>
      </p:sp>
      <p:sp>
        <p:nvSpPr>
          <p:cNvPr id="51" name="Shape 47"/>
          <p:cNvSpPr/>
          <p:nvPr/>
        </p:nvSpPr>
        <p:spPr>
          <a:xfrm>
            <a:off x="6638544" y="4645152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6638544" y="471373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</a:t>
            </a:r>
            <a:endParaRPr lang="en-US" sz="800" dirty="0"/>
          </a:p>
        </p:txBody>
      </p:sp>
      <p:sp>
        <p:nvSpPr>
          <p:cNvPr id="53" name="Text 49"/>
          <p:cNvSpPr/>
          <p:nvPr/>
        </p:nvSpPr>
        <p:spPr>
          <a:xfrm>
            <a:off x="7479792" y="4709160"/>
            <a:ext cx="16459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confusion</a:t>
            </a:r>
            <a:endParaRPr lang="en-US" sz="860" dirty="0"/>
          </a:p>
        </p:txBody>
      </p:sp>
      <p:sp>
        <p:nvSpPr>
          <p:cNvPr id="54" name="Text 50"/>
          <p:cNvSpPr/>
          <p:nvPr/>
        </p:nvSpPr>
        <p:spPr>
          <a:xfrm>
            <a:off x="9281160" y="4709160"/>
            <a:ext cx="21031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schedule and fee disclosure.</a:t>
            </a:r>
            <a:endParaRPr lang="en-US" sz="770" dirty="0"/>
          </a:p>
        </p:txBody>
      </p:sp>
      <p:sp>
        <p:nvSpPr>
          <p:cNvPr id="55" name="Shape 51"/>
          <p:cNvSpPr/>
          <p:nvPr/>
        </p:nvSpPr>
        <p:spPr>
          <a:xfrm>
            <a:off x="6638544" y="4901184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6638544" y="496976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Bank</a:t>
            </a:r>
            <a:endParaRPr lang="en-US" sz="800" dirty="0"/>
          </a:p>
        </p:txBody>
      </p:sp>
      <p:sp>
        <p:nvSpPr>
          <p:cNvPr id="57" name="Text 53"/>
          <p:cNvSpPr/>
          <p:nvPr/>
        </p:nvSpPr>
        <p:spPr>
          <a:xfrm>
            <a:off x="7479792" y="4965192"/>
            <a:ext cx="16459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Rail inconsistency</a:t>
            </a:r>
            <a:endParaRPr lang="en-US" sz="860" dirty="0"/>
          </a:p>
        </p:txBody>
      </p:sp>
      <p:sp>
        <p:nvSpPr>
          <p:cNvPr id="58" name="Text 54"/>
          <p:cNvSpPr/>
          <p:nvPr/>
        </p:nvSpPr>
        <p:spPr>
          <a:xfrm>
            <a:off x="9281160" y="4965192"/>
            <a:ext cx="21031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Bank-wise adapters.</a:t>
            </a:r>
            <a:endParaRPr lang="en-US" sz="770" dirty="0"/>
          </a:p>
        </p:txBody>
      </p:sp>
      <p:sp>
        <p:nvSpPr>
          <p:cNvPr id="59" name="Shape 55"/>
          <p:cNvSpPr/>
          <p:nvPr/>
        </p:nvSpPr>
        <p:spPr>
          <a:xfrm>
            <a:off x="6638544" y="5157216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6638544" y="5225796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800" dirty="0"/>
          </a:p>
        </p:txBody>
      </p:sp>
      <p:sp>
        <p:nvSpPr>
          <p:cNvPr id="61" name="Text 57"/>
          <p:cNvSpPr/>
          <p:nvPr/>
        </p:nvSpPr>
        <p:spPr>
          <a:xfrm>
            <a:off x="7479792" y="5221224"/>
            <a:ext cx="16459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Settlement mismatch</a:t>
            </a:r>
            <a:endParaRPr lang="en-US" sz="860" dirty="0"/>
          </a:p>
        </p:txBody>
      </p:sp>
      <p:sp>
        <p:nvSpPr>
          <p:cNvPr id="62" name="Text 58"/>
          <p:cNvSpPr/>
          <p:nvPr/>
        </p:nvSpPr>
        <p:spPr>
          <a:xfrm>
            <a:off x="9281160" y="5221224"/>
            <a:ext cx="21031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Pay4 ledger.</a:t>
            </a:r>
            <a:endParaRPr lang="en-US" sz="770" dirty="0"/>
          </a:p>
        </p:txBody>
      </p:sp>
      <p:sp>
        <p:nvSpPr>
          <p:cNvPr id="63" name="Shape 59"/>
          <p:cNvSpPr/>
          <p:nvPr/>
        </p:nvSpPr>
        <p:spPr>
          <a:xfrm>
            <a:off x="6638544" y="541324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CFE7DB"/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6638544" y="5481828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74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</a:t>
            </a:r>
            <a:endParaRPr lang="en-US" sz="800" dirty="0"/>
          </a:p>
        </p:txBody>
      </p:sp>
      <p:sp>
        <p:nvSpPr>
          <p:cNvPr id="65" name="Text 61"/>
          <p:cNvSpPr/>
          <p:nvPr/>
        </p:nvSpPr>
        <p:spPr>
          <a:xfrm>
            <a:off x="7479792" y="5477256"/>
            <a:ext cx="16459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62D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Refund complexity</a:t>
            </a:r>
            <a:endParaRPr lang="en-US" sz="860" dirty="0"/>
          </a:p>
        </p:txBody>
      </p:sp>
      <p:sp>
        <p:nvSpPr>
          <p:cNvPr id="66" name="Text 62"/>
          <p:cNvSpPr/>
          <p:nvPr/>
        </p:nvSpPr>
        <p:spPr>
          <a:xfrm>
            <a:off x="9281160" y="5477256"/>
            <a:ext cx="21031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63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Certify refund behavior.</a:t>
            </a:r>
            <a:endParaRPr lang="en-US" sz="770" dirty="0"/>
          </a:p>
        </p:txBody>
      </p:sp>
      <p:sp>
        <p:nvSpPr>
          <p:cNvPr id="67" name="Shape 63"/>
          <p:cNvSpPr/>
          <p:nvPr/>
        </p:nvSpPr>
        <p:spPr>
          <a:xfrm>
            <a:off x="384048" y="6053328"/>
            <a:ext cx="11430000" cy="292608"/>
          </a:xfrm>
          <a:prstGeom prst="roundRect">
            <a:avLst>
              <a:gd name="adj" fmla="val 43750"/>
            </a:avLst>
          </a:prstGeom>
          <a:solidFill>
            <a:srgbClr val="087455"/>
          </a:solidFill>
          <a:ln w="12700">
            <a:solidFill>
              <a:srgbClr val="087455"/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640080" y="6144768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affordability the default checkout behavior.</a:t>
            </a:r>
            <a:endParaRPr lang="en-US" sz="1080" dirty="0"/>
          </a:p>
        </p:txBody>
      </p:sp>
      <p:sp>
        <p:nvSpPr>
          <p:cNvPr id="69" name="Text 65"/>
          <p:cNvSpPr/>
          <p:nvPr/>
        </p:nvSpPr>
        <p:spPr>
          <a:xfrm>
            <a:off x="8275320" y="6144768"/>
            <a:ext cx="3246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Activate Pay4 for your checkout · Talk to Pine Labs</a:t>
            </a:r>
            <a:endParaRPr lang="en-US" sz="9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Pine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Pay4 by Pine Labs Brochure</dc:title>
  <dc:subject>Pay4 online checkout brochure</dc:subject>
  <dc:creator>Pine Labs</dc:creator>
  <cp:lastModifiedBy>Pine Labs</cp:lastModifiedBy>
  <cp:revision>1</cp:revision>
  <dcterms:created xsi:type="dcterms:W3CDTF">2026-05-21T08:36:39Z</dcterms:created>
  <dcterms:modified xsi:type="dcterms:W3CDTF">2026-05-21T08:36:39Z</dcterms:modified>
</cp:coreProperties>
</file>